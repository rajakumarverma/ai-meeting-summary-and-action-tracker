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c221d95-4e57-5ea0-a2bc-48a71c45e7fa}">
          <p14:sldIdLst>
            <p14:sldId id="256"/>
          </p14:sldIdLst>
        </p14:section>
        <p14:section name="Problem and solution" id="{f7e5dff8-a40e-a421-f2c2-43f655b2b73f}">
          <p14:sldIdLst>
            <p14:sldId id="257"/>
            <p14:sldId id="258"/>
            <p14:sldId id="259"/>
          </p14:sldIdLst>
        </p14:section>
        <p14:section name="How it works" id="{959e7442-a045-3bb4-e1b5-c824b81e7313}">
          <p14:sldIdLst>
            <p14:sldId id="260"/>
            <p14:sldId id="261"/>
          </p14:sldIdLst>
        </p14:section>
        <p14:section name="Trust and demo" id="{057963f2-190f-1587-1408-6f1743aa71d9}">
          <p14:sldIdLst>
            <p14:sldId id="262"/>
            <p14:sldId id="263"/>
          </p14:sldIdLst>
        </p14:section>
        <p14:section name="Operate and next steps" id="{92c4eb3a-7172-1466-6ed5-a8f1c37c23ad}">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Our project is the AI Meeting Summary and Action Tracker, problem statement PS-02. It is a web app that turns a meeting transcript into reviewed, tracked tasks. On the right is the idea in one picture: a sentence from the transcript, 'I'll fix the login crash by Oct 21', is analysed by AI and becomes a task with an owner, a due date and a priority. A person then approves or rejects it. On the left, the three things the app does: it reads the transcript, you review and approve, and it tracks the work on a Kanban board and dashboard. The names and dates here are fictional sample data from our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team knows this. A meeting ends with good intentions, but notes are incomplete or scattered, nobody is sure who owns what, and nobody tracks it afterwards. By the time a deadline is missed, the context is gone. That is the gap we are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product on one slide. A user pastes a transcript. The AI analyses it. A person reviews the suggestions, and only approved items become Kanban tasks. The dashboard then shows progress. The amber step, human review, is our key design decision: AI drafts, people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one transcript, the app produces six things: a short summary, the decisions with their evidence, action items with owner, deadline and priority, flags for anything missing, a Kanban board to track the work, and a dashboard to see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holds the interface and your data in localStorage. When you click Analyze, only the transcript and meeting details go to a small Python backend. The backend checks the request, calls the AI provider, then validates the answer before the browser ever sees it. The AI key lives only on the server. If there is no key, demo mode runs a rule-based analyzer instead, and the app labels it clearly as demo, not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simple so it is easy to run and easy to explain. Plain HTML, CSS and JavaScript on the front, a small Python FastAPI service on the back, and swappable AI providers behind an adapter. Data is kept in the browser. We also wrote 99 automated tests, including one that drives the whole demo workflow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the tool trustworthy. The AI never invents an owner or a deadline: if it is unclear, the item is flagged in red and shown as Unassigned. Each item keeps the exact sentence it came from, so a reviewer can check it. Hedged ideas are not turned into decisions. Output is validated before saving, and nothing becomes a task until someone clicks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you will see in the live demo; it takes about three minutes. Load the sample meeting, analyze it, look at the red flags, fix one item and reject another, approve the rest, move cards on the board, check the dashboard, and finally trace one task back to its source sentence. The demo works without an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it is simple. To run it: install the requirements and run python run.py. For modes: demo needs no key; add one key to a .env file for live AI. For daily work: every task carries an owner, due date, priority and its source, and the dashboard filters by owner, status or date. For data: it stays in the browser, with export and import for backups. It is not shared between people yet; that is our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full workflow works end to end: paste, analyze, review, approve, track, and see the dashboard. Honest limits: data lives in one browser, and demo mode is rule-based. Next steps are a shared database with login so teams can collaborate, integrations with Slack, Teams and calendars, more transcript formats including audio, and reminders for due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turn meeting transcripts into reviewed, tracked work, with a human approving everything the AI suggests. Thank you, and we are happy to take questions or show any part of the demo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914400"/>
            <a:ext cx="64008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2788920"/>
            <a:ext cx="6309360" cy="8686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tx2"/>
                </a:solidFill>
              </a:rPr>
              <a:t>Meeting Action Tracker  ·  Tech Yuva × GDG Gurugram Build-A-Thon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10881360" cy="1371600"/>
          </a:xfrm>
          <a:prstGeom prst="rect">
            <a:avLst/>
          </a:prstGeom>
          <a:noFill/>
          <a:ln/>
        </p:spPr>
        <p:txBody>
          <a:bodyPr wrap="square" rtlCol="0"/>
          <a:lstStyle>
            <a:lvl1pPr algn="l" indent="0" marL="0">
              <a:buNone/>
              <a:defRPr lang="en-US" sz="5600" b="1" dirty="0">
                <a:solidFill>
                  <a:schemeClr val="bg1"/>
                </a:solidFill>
              </a:defRPr>
            </a:lvl1pPr>
          </a:lstStyle>
          <a:p>
            <a:pPr algn="l" indent="0" marL="0">
              <a:buNone/>
            </a:pPr>
            <a:endParaRPr lang="en-US" sz="5600" dirty="0"/>
          </a:p>
        </p:txBody>
      </p:sp>
      <p:sp>
        <p:nvSpPr>
          <p:cNvPr id="3" name="Text 0"/>
          <p:cNvSpPr/>
          <p:nvPr>
            <p:ph idx="101" type="body" hasCustomPrompt="1"/>
          </p:nvPr>
        </p:nvSpPr>
        <p:spPr>
          <a:xfrm>
            <a:off x="640080" y="2926080"/>
            <a:ext cx="10881360" cy="822960"/>
          </a:xfrm>
          <a:prstGeom prst="rect">
            <a:avLst/>
          </a:prstGeom>
          <a:noFill/>
          <a:ln/>
        </p:spPr>
        <p:txBody>
          <a:bodyPr wrap="square" rtlCol="0"/>
          <a:lstStyle>
            <a:lvl1pPr algn="l" indent="0" marL="0">
              <a:buNone/>
              <a:defRPr lang="en-US" sz="3000" dirty="0">
                <a:solidFill>
                  <a:schemeClr val="accent2"/>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line"/>
          <p:cNvSpPr txBox="1"/>
          <p:nvPr/>
        </p:nvSpPr>
        <p:spPr>
          <a:xfrm>
            <a:off x="640080" y="502920"/>
            <a:ext cx="6949440" cy="320040"/>
          </a:xfrm>
          <a:prstGeom prst="rect">
            <a:avLst/>
          </a:prstGeom>
          <a:noFill/>
          <a:ln/>
        </p:spPr>
        <p:txBody>
          <a:bodyPr wrap="square" lIns="0" tIns="0" rIns="0" bIns="0" rtlCol="0" anchor="t"/>
          <a:lstStyle/>
          <a:p>
            <a:pPr indent="0" marL="0">
              <a:buNone/>
            </a:pPr>
            <a:r>
              <a:rPr lang="en-US" sz="1400" b="1" dirty="0">
                <a:solidFill>
                  <a:schemeClr val="accent2"/>
                </a:solidFill>
              </a:rPr>
              <a:t>Build-A-Thon 2026  ·  PS-02  ·  Tech Yuva × GDG Gurugram</a:t>
            </a:r>
            <a:endParaRPr lang="en-US" sz="1400" dirty="0"/>
          </a:p>
        </p:txBody>
      </p:sp>
      <p:sp>
        <p:nvSpPr>
          <p:cNvPr id="3" name="Text 0"/>
          <p:cNvSpPr/>
          <p:nvPr>
            <p:ph idx="100" type="title" hasCustomPrompt="1"/>
          </p:nvPr>
        </p:nvSpPr>
        <p:spPr>
          <a:xfrm>
            <a:off x="640080" y="914400"/>
            <a:ext cx="6400800" cy="1737360"/>
          </a:xfrm>
          <a:prstGeom prst="rect">
            <a:avLst/>
          </a:prstGeom>
          <a:noFill/>
          <a:ln/>
        </p:spPr>
        <p:txBody>
          <a:bodyPr wrap="square" lIns="0" tIns="0" rIns="0" bIns="0" rtlCol="0" anchor="b"/>
          <a:lstStyle/>
          <a:p>
            <a:pPr algn="l" indent="0" marL="0">
              <a:buNone/>
            </a:pPr>
            <a:r>
              <a:rPr lang="en-US" sz="4400" b="1" dirty="0">
                <a:solidFill>
                  <a:schemeClr val="bg1"/>
                </a:solidFill>
              </a:rPr>
              <a:t>AI Meeting Summary &amp; Action Tracker</a:t>
            </a:r>
            <a:endParaRPr lang="en-US" sz="4400" dirty="0"/>
          </a:p>
        </p:txBody>
      </p:sp>
      <p:sp>
        <p:nvSpPr>
          <p:cNvPr id="4" name="Text 0"/>
          <p:cNvSpPr/>
          <p:nvPr>
            <p:ph idx="101" type="body" hasCustomPrompt="1"/>
          </p:nvPr>
        </p:nvSpPr>
        <p:spPr>
          <a:xfrm>
            <a:off x="640080" y="2788920"/>
            <a:ext cx="6309360" cy="868680"/>
          </a:xfrm>
          <a:prstGeom prst="rect">
            <a:avLst/>
          </a:prstGeom>
          <a:noFill/>
          <a:ln/>
        </p:spPr>
        <p:txBody>
          <a:bodyPr wrap="square" lIns="0" tIns="0" rIns="0" bIns="0" rtlCol="0" anchor="t"/>
          <a:lstStyle/>
          <a:p>
            <a:pPr algn="l" indent="0" marL="0">
              <a:buNone/>
            </a:pPr>
            <a:r>
              <a:rPr lang="en-US" sz="2000" dirty="0">
                <a:solidFill>
                  <a:schemeClr val="bg2"/>
                </a:solidFill>
              </a:rPr>
              <a:t>A web app that turns meeting transcripts into reviewed, tracked tasks</a:t>
            </a:r>
            <a:endParaRPr lang="en-US" sz="2000" dirty="0"/>
          </a:p>
        </p:txBody>
      </p:sp>
      <p:sp>
        <p:nvSpPr>
          <p:cNvPr id="5" name="Cover point 1 circle"/>
          <p:cNvSpPr/>
          <p:nvPr/>
        </p:nvSpPr>
        <p:spPr>
          <a:xfrm>
            <a:off x="640080" y="3904488"/>
            <a:ext cx="566928" cy="566928"/>
          </a:xfrm>
          <a:prstGeom prst="ellipse">
            <a:avLst/>
          </a:prstGeom>
          <a:solidFill>
            <a:schemeClr val="accent1"/>
          </a:solidFill>
          <a:ln w="12700">
            <a:solidFill>
              <a:schemeClr val="accent1"/>
            </a:solidFill>
            <a:prstDash val="solid"/>
          </a:ln>
        </p:spPr>
      </p:sp>
      <p:pic>
        <p:nvPicPr>
          <p:cNvPr id="6" name="Cover point 1 icon" descr="Cover point 1">    </p:cNvPr>
          <p:cNvPicPr>
            <a:picLocks noChangeAspect="1"/>
          </p:cNvPicPr>
          <p:nvPr/>
        </p:nvPicPr>
        <p:blipFill>
          <a:blip r:embed="rId1"/>
          <a:stretch>
            <a:fillRect/>
          </a:stretch>
        </p:blipFill>
        <p:spPr>
          <a:xfrm>
            <a:off x="793151" y="4057559"/>
            <a:ext cx="260787" cy="260787"/>
          </a:xfrm>
          <a:prstGeom prst="rect">
            <a:avLst/>
          </a:prstGeom>
        </p:spPr>
      </p:pic>
      <p:sp>
        <p:nvSpPr>
          <p:cNvPr id="7" name="Cover point text 1"/>
          <p:cNvSpPr txBox="1"/>
          <p:nvPr/>
        </p:nvSpPr>
        <p:spPr>
          <a:xfrm>
            <a:off x="1417320" y="3840480"/>
            <a:ext cx="5669280" cy="731520"/>
          </a:xfrm>
          <a:prstGeom prst="rect">
            <a:avLst/>
          </a:prstGeom>
          <a:noFill/>
          <a:ln/>
        </p:spPr>
        <p:txBody>
          <a:bodyPr wrap="square" lIns="0" tIns="0" rIns="0" bIns="0" rtlCol="0" anchor="ctr"/>
          <a:lstStyle/>
          <a:p>
            <a:pPr indent="0" marL="0">
              <a:buNone/>
            </a:pPr>
            <a:r>
              <a:rPr lang="en-US" sz="1800" b="1" dirty="0">
                <a:solidFill>
                  <a:schemeClr val="bg1"/>
                </a:solidFill>
              </a:rPr>
              <a:t>Reads the transcript</a:t>
            </a:r>
            <a:endParaRPr lang="en-US" sz="1800" dirty="0"/>
          </a:p>
          <a:p>
            <a:pPr indent="0" marL="0">
              <a:buNone/>
            </a:pPr>
            <a:r>
              <a:rPr lang="en-US" sz="1400" dirty="0">
                <a:solidFill>
                  <a:schemeClr val="bg2"/>
                </a:solidFill>
              </a:rPr>
              <a:t>Summary, decisions, and action items with owners and deadlines</a:t>
            </a:r>
            <a:endParaRPr lang="en-US" sz="1800" dirty="0"/>
          </a:p>
        </p:txBody>
      </p:sp>
      <p:sp>
        <p:nvSpPr>
          <p:cNvPr id="8" name="Cover point 2 circle"/>
          <p:cNvSpPr/>
          <p:nvPr/>
        </p:nvSpPr>
        <p:spPr>
          <a:xfrm>
            <a:off x="640080" y="4773168"/>
            <a:ext cx="566928" cy="566928"/>
          </a:xfrm>
          <a:prstGeom prst="ellipse">
            <a:avLst/>
          </a:prstGeom>
          <a:solidFill>
            <a:schemeClr val="accent1"/>
          </a:solidFill>
          <a:ln w="12700">
            <a:solidFill>
              <a:schemeClr val="accent1"/>
            </a:solidFill>
            <a:prstDash val="solid"/>
          </a:ln>
        </p:spPr>
      </p:sp>
      <p:pic>
        <p:nvPicPr>
          <p:cNvPr id="9" name="Cover point 2 icon" descr="Cover point 2">    </p:cNvPr>
          <p:cNvPicPr>
            <a:picLocks noChangeAspect="1"/>
          </p:cNvPicPr>
          <p:nvPr/>
        </p:nvPicPr>
        <p:blipFill>
          <a:blip r:embed="rId2"/>
          <a:stretch>
            <a:fillRect/>
          </a:stretch>
        </p:blipFill>
        <p:spPr>
          <a:xfrm>
            <a:off x="793151" y="4926239"/>
            <a:ext cx="260787" cy="260787"/>
          </a:xfrm>
          <a:prstGeom prst="rect">
            <a:avLst/>
          </a:prstGeom>
        </p:spPr>
      </p:pic>
      <p:sp>
        <p:nvSpPr>
          <p:cNvPr id="10" name="Cover point text 2"/>
          <p:cNvSpPr txBox="1"/>
          <p:nvPr/>
        </p:nvSpPr>
        <p:spPr>
          <a:xfrm>
            <a:off x="1417320" y="4709160"/>
            <a:ext cx="5669280" cy="731520"/>
          </a:xfrm>
          <a:prstGeom prst="rect">
            <a:avLst/>
          </a:prstGeom>
          <a:noFill/>
          <a:ln/>
        </p:spPr>
        <p:txBody>
          <a:bodyPr wrap="square" lIns="0" tIns="0" rIns="0" bIns="0" rtlCol="0" anchor="ctr"/>
          <a:lstStyle/>
          <a:p>
            <a:pPr indent="0" marL="0">
              <a:buNone/>
            </a:pPr>
            <a:r>
              <a:rPr lang="en-US" sz="1800" b="1" dirty="0">
                <a:solidFill>
                  <a:schemeClr val="bg1"/>
                </a:solidFill>
              </a:rPr>
              <a:t>You review and approve</a:t>
            </a:r>
            <a:endParaRPr lang="en-US" sz="1800" dirty="0"/>
          </a:p>
          <a:p>
            <a:pPr indent="0" marL="0">
              <a:buNone/>
            </a:pPr>
            <a:r>
              <a:rPr lang="en-US" sz="1400" dirty="0">
                <a:solidFill>
                  <a:schemeClr val="bg2"/>
                </a:solidFill>
              </a:rPr>
              <a:t>Edit or reject each suggestion; nothing is created automatically</a:t>
            </a:r>
            <a:endParaRPr lang="en-US" sz="1800" dirty="0"/>
          </a:p>
        </p:txBody>
      </p:sp>
      <p:sp>
        <p:nvSpPr>
          <p:cNvPr id="11" name="Cover point 3 circle"/>
          <p:cNvSpPr/>
          <p:nvPr/>
        </p:nvSpPr>
        <p:spPr>
          <a:xfrm>
            <a:off x="640080" y="5641848"/>
            <a:ext cx="566928" cy="566928"/>
          </a:xfrm>
          <a:prstGeom prst="ellipse">
            <a:avLst/>
          </a:prstGeom>
          <a:solidFill>
            <a:schemeClr val="accent1"/>
          </a:solidFill>
          <a:ln w="12700">
            <a:solidFill>
              <a:schemeClr val="accent1"/>
            </a:solidFill>
            <a:prstDash val="solid"/>
          </a:ln>
        </p:spPr>
      </p:sp>
      <p:pic>
        <p:nvPicPr>
          <p:cNvPr id="12" name="Cover point 3 icon" descr="Cover point 3">    </p:cNvPr>
          <p:cNvPicPr>
            <a:picLocks noChangeAspect="1"/>
          </p:cNvPicPr>
          <p:nvPr/>
        </p:nvPicPr>
        <p:blipFill>
          <a:blip r:embed="rId3"/>
          <a:stretch>
            <a:fillRect/>
          </a:stretch>
        </p:blipFill>
        <p:spPr>
          <a:xfrm>
            <a:off x="793151" y="5794919"/>
            <a:ext cx="260787" cy="260787"/>
          </a:xfrm>
          <a:prstGeom prst="rect">
            <a:avLst/>
          </a:prstGeom>
        </p:spPr>
      </p:pic>
      <p:sp>
        <p:nvSpPr>
          <p:cNvPr id="13" name="Cover point text 3"/>
          <p:cNvSpPr txBox="1"/>
          <p:nvPr/>
        </p:nvSpPr>
        <p:spPr>
          <a:xfrm>
            <a:off x="1417320" y="5577840"/>
            <a:ext cx="5669280" cy="731520"/>
          </a:xfrm>
          <a:prstGeom prst="rect">
            <a:avLst/>
          </a:prstGeom>
          <a:noFill/>
          <a:ln/>
        </p:spPr>
        <p:txBody>
          <a:bodyPr wrap="square" lIns="0" tIns="0" rIns="0" bIns="0" rtlCol="0" anchor="ctr"/>
          <a:lstStyle/>
          <a:p>
            <a:pPr indent="0" marL="0">
              <a:buNone/>
            </a:pPr>
            <a:r>
              <a:rPr lang="en-US" sz="1800" b="1" dirty="0">
                <a:solidFill>
                  <a:schemeClr val="bg1"/>
                </a:solidFill>
              </a:rPr>
              <a:t>Tracks the work</a:t>
            </a:r>
            <a:endParaRPr lang="en-US" sz="1800" dirty="0"/>
          </a:p>
          <a:p>
            <a:pPr indent="0" marL="0">
              <a:buNone/>
            </a:pPr>
            <a:r>
              <a:rPr lang="en-US" sz="1400" dirty="0">
                <a:solidFill>
                  <a:schemeClr val="bg2"/>
                </a:solidFill>
              </a:rPr>
              <a:t>Kanban board and dashboard show what is overdue and who owns it</a:t>
            </a:r>
            <a:endParaRPr lang="en-US" sz="1800" dirty="0"/>
          </a:p>
        </p:txBody>
      </p:sp>
      <p:sp>
        <p:nvSpPr>
          <p:cNvPr id="14" name="Transcript card"/>
          <p:cNvSpPr/>
          <p:nvPr/>
        </p:nvSpPr>
        <p:spPr>
          <a:xfrm>
            <a:off x="7589520" y="914400"/>
            <a:ext cx="3977640" cy="1463040"/>
          </a:xfrm>
          <a:prstGeom prst="roundRect">
            <a:avLst>
              <a:gd name="adj" fmla="val 8750"/>
            </a:avLst>
          </a:prstGeom>
          <a:solidFill>
            <a:schemeClr val="bg1"/>
          </a:solidFill>
          <a:ln w="12700">
            <a:solidFill>
              <a:schemeClr val="bg1"/>
            </a:solidFill>
            <a:prstDash val="solid"/>
          </a:ln>
        </p:spPr>
      </p:sp>
      <p:sp>
        <p:nvSpPr>
          <p:cNvPr id="15" name="Transcript label"/>
          <p:cNvSpPr txBox="1"/>
          <p:nvPr/>
        </p:nvSpPr>
        <p:spPr>
          <a:xfrm>
            <a:off x="7863840" y="1078992"/>
            <a:ext cx="3429000" cy="274320"/>
          </a:xfrm>
          <a:prstGeom prst="rect">
            <a:avLst/>
          </a:prstGeom>
          <a:noFill/>
          <a:ln/>
        </p:spPr>
        <p:txBody>
          <a:bodyPr wrap="square" lIns="0" tIns="0" rIns="0" bIns="0" rtlCol="0" anchor="t"/>
          <a:lstStyle/>
          <a:p>
            <a:pPr indent="0" marL="0">
              <a:buNone/>
            </a:pPr>
            <a:r>
              <a:rPr lang="en-US" sz="1200" dirty="0">
                <a:solidFill>
                  <a:schemeClr val="tx2"/>
                </a:solidFill>
              </a:rPr>
              <a:t>From the transcript</a:t>
            </a:r>
            <a:endParaRPr lang="en-US" sz="1200" dirty="0"/>
          </a:p>
        </p:txBody>
      </p:sp>
      <p:sp>
        <p:nvSpPr>
          <p:cNvPr id="16" name="Transcript quote"/>
          <p:cNvSpPr txBox="1"/>
          <p:nvPr/>
        </p:nvSpPr>
        <p:spPr>
          <a:xfrm>
            <a:off x="7863840" y="1389888"/>
            <a:ext cx="3429000" cy="594360"/>
          </a:xfrm>
          <a:prstGeom prst="rect">
            <a:avLst/>
          </a:prstGeom>
          <a:noFill/>
          <a:ln/>
        </p:spPr>
        <p:txBody>
          <a:bodyPr wrap="square" lIns="0" tIns="0" rIns="0" bIns="0" rtlCol="0" anchor="t"/>
          <a:lstStyle/>
          <a:p>
            <a:pPr indent="0" marL="0">
              <a:buNone/>
            </a:pPr>
            <a:r>
              <a:rPr lang="en-US" sz="1700" i="1" dirty="0">
                <a:solidFill>
                  <a:schemeClr val="tx1"/>
                </a:solidFill>
              </a:rPr>
              <a:t>“I'll fix the login crash by Oct 21.”</a:t>
            </a:r>
            <a:endParaRPr lang="en-US" sz="1700" dirty="0"/>
          </a:p>
        </p:txBody>
      </p:sp>
      <p:sp>
        <p:nvSpPr>
          <p:cNvPr id="17" name="Transcript speaker"/>
          <p:cNvSpPr txBox="1"/>
          <p:nvPr/>
        </p:nvSpPr>
        <p:spPr>
          <a:xfrm>
            <a:off x="7863840" y="2011680"/>
            <a:ext cx="3429000" cy="274320"/>
          </a:xfrm>
          <a:prstGeom prst="rect">
            <a:avLst/>
          </a:prstGeom>
          <a:noFill/>
          <a:ln/>
        </p:spPr>
        <p:txBody>
          <a:bodyPr wrap="square" lIns="0" tIns="0" rIns="0" bIns="0" rtlCol="0" anchor="t"/>
          <a:lstStyle/>
          <a:p>
            <a:pPr indent="0" marL="0">
              <a:buNone/>
            </a:pPr>
            <a:r>
              <a:rPr lang="en-US" sz="1200" dirty="0">
                <a:solidFill>
                  <a:schemeClr val="tx2"/>
                </a:solidFill>
              </a:rPr>
              <a:t>Marcus, product sync</a:t>
            </a:r>
            <a:endParaRPr lang="en-US" sz="1200" dirty="0"/>
          </a:p>
        </p:txBody>
      </p:sp>
      <p:sp>
        <p:nvSpPr>
          <p:cNvPr id="18" name="Analysis arrow"/>
          <p:cNvSpPr/>
          <p:nvPr/>
        </p:nvSpPr>
        <p:spPr>
          <a:xfrm>
            <a:off x="9578340" y="2487168"/>
            <a:ext cx="0" cy="621792"/>
          </a:xfrm>
          <a:prstGeom prst="line">
            <a:avLst/>
          </a:prstGeom>
          <a:noFill/>
          <a:ln w="38100">
            <a:solidFill>
              <a:schemeClr val="accent2"/>
            </a:solidFill>
            <a:prstDash val="solid"/>
            <a:tailEnd type="triangle"/>
          </a:ln>
        </p:spPr>
      </p:sp>
      <p:sp>
        <p:nvSpPr>
          <p:cNvPr id="19" name="Analysis label"/>
          <p:cNvSpPr txBox="1"/>
          <p:nvPr/>
        </p:nvSpPr>
        <p:spPr>
          <a:xfrm>
            <a:off x="9761220" y="2651760"/>
            <a:ext cx="1645920" cy="274320"/>
          </a:xfrm>
          <a:prstGeom prst="rect">
            <a:avLst/>
          </a:prstGeom>
          <a:noFill/>
          <a:ln/>
        </p:spPr>
        <p:txBody>
          <a:bodyPr wrap="square" lIns="0" tIns="0" rIns="0" bIns="0" rtlCol="0" anchor="t"/>
          <a:lstStyle/>
          <a:p>
            <a:pPr indent="0" marL="0">
              <a:buNone/>
            </a:pPr>
            <a:r>
              <a:rPr lang="en-US" sz="1400" b="1" dirty="0">
                <a:solidFill>
                  <a:schemeClr val="accent2"/>
                </a:solidFill>
              </a:rPr>
              <a:t>AI analysis</a:t>
            </a:r>
            <a:endParaRPr lang="en-US" sz="1400" dirty="0"/>
          </a:p>
        </p:txBody>
      </p:sp>
      <p:sp>
        <p:nvSpPr>
          <p:cNvPr id="20" name="Task card"/>
          <p:cNvSpPr/>
          <p:nvPr/>
        </p:nvSpPr>
        <p:spPr>
          <a:xfrm>
            <a:off x="7589520" y="3246120"/>
            <a:ext cx="3977640" cy="2743200"/>
          </a:xfrm>
          <a:prstGeom prst="roundRect">
            <a:avLst>
              <a:gd name="adj" fmla="val 4667"/>
            </a:avLst>
          </a:prstGeom>
          <a:solidFill>
            <a:schemeClr val="bg1"/>
          </a:solidFill>
          <a:ln w="12700">
            <a:solidFill>
              <a:schemeClr val="bg1"/>
            </a:solidFill>
            <a:prstDash val="solid"/>
          </a:ln>
        </p:spPr>
      </p:sp>
      <p:sp>
        <p:nvSpPr>
          <p:cNvPr id="21" name="Task label"/>
          <p:cNvSpPr txBox="1"/>
          <p:nvPr/>
        </p:nvSpPr>
        <p:spPr>
          <a:xfrm>
            <a:off x="7863840" y="3401568"/>
            <a:ext cx="3429000" cy="274320"/>
          </a:xfrm>
          <a:prstGeom prst="rect">
            <a:avLst/>
          </a:prstGeom>
          <a:noFill/>
          <a:ln/>
        </p:spPr>
        <p:txBody>
          <a:bodyPr wrap="square" lIns="0" tIns="0" rIns="0" bIns="0" rtlCol="0" anchor="t"/>
          <a:lstStyle/>
          <a:p>
            <a:pPr indent="0" marL="0">
              <a:buNone/>
            </a:pPr>
            <a:r>
              <a:rPr lang="en-US" sz="1200" dirty="0">
                <a:solidFill>
                  <a:schemeClr val="tx2"/>
                </a:solidFill>
              </a:rPr>
              <a:t>Becomes a reviewable task</a:t>
            </a:r>
            <a:endParaRPr lang="en-US" sz="1200" dirty="0"/>
          </a:p>
        </p:txBody>
      </p:sp>
      <p:sp>
        <p:nvSpPr>
          <p:cNvPr id="22" name="Task title"/>
          <p:cNvSpPr txBox="1"/>
          <p:nvPr/>
        </p:nvSpPr>
        <p:spPr>
          <a:xfrm>
            <a:off x="7863840" y="3730752"/>
            <a:ext cx="3429000" cy="411480"/>
          </a:xfrm>
          <a:prstGeom prst="rect">
            <a:avLst/>
          </a:prstGeom>
          <a:noFill/>
          <a:ln/>
        </p:spPr>
        <p:txBody>
          <a:bodyPr wrap="square" lIns="0" tIns="0" rIns="0" bIns="0" rtlCol="0" anchor="t"/>
          <a:lstStyle/>
          <a:p>
            <a:pPr indent="0" marL="0">
              <a:buNone/>
            </a:pPr>
            <a:r>
              <a:rPr lang="en-US" sz="2000" b="1" dirty="0">
                <a:solidFill>
                  <a:schemeClr val="tx1"/>
                </a:solidFill>
              </a:rPr>
              <a:t>Fix the login crash</a:t>
            </a:r>
            <a:endParaRPr lang="en-US" sz="2000" dirty="0"/>
          </a:p>
        </p:txBody>
      </p:sp>
      <p:sp>
        <p:nvSpPr>
          <p:cNvPr id="23" name="Task meta"/>
          <p:cNvSpPr txBox="1"/>
          <p:nvPr/>
        </p:nvSpPr>
        <p:spPr>
          <a:xfrm>
            <a:off x="7863840" y="4187952"/>
            <a:ext cx="3429000" cy="320040"/>
          </a:xfrm>
          <a:prstGeom prst="rect">
            <a:avLst/>
          </a:prstGeom>
          <a:noFill/>
          <a:ln/>
        </p:spPr>
        <p:txBody>
          <a:bodyPr wrap="square" lIns="0" tIns="0" rIns="0" bIns="0" rtlCol="0" anchor="t"/>
          <a:lstStyle/>
          <a:p>
            <a:pPr indent="0" marL="0">
              <a:buNone/>
            </a:pPr>
            <a:r>
              <a:rPr lang="en-US" sz="1400" dirty="0">
                <a:solidFill>
                  <a:schemeClr val="tx2"/>
                </a:solidFill>
              </a:rPr>
              <a:t>Marcus Lee  ·  due Oct 21</a:t>
            </a:r>
            <a:endParaRPr lang="en-US" sz="1400" dirty="0"/>
          </a:p>
        </p:txBody>
      </p:sp>
      <p:sp>
        <p:nvSpPr>
          <p:cNvPr id="24" name="High chip"/>
          <p:cNvSpPr/>
          <p:nvPr/>
        </p:nvSpPr>
        <p:spPr>
          <a:xfrm>
            <a:off x="7863840" y="4636008"/>
            <a:ext cx="914400" cy="292608"/>
          </a:xfrm>
          <a:prstGeom prst="roundRect">
            <a:avLst>
              <a:gd name="adj" fmla="val 50000"/>
            </a:avLst>
          </a:prstGeom>
          <a:solidFill>
            <a:schemeClr val="accent6"/>
          </a:solidFill>
          <a:ln w="12700">
            <a:solidFill>
              <a:schemeClr val="accent6"/>
            </a:solidFill>
            <a:prstDash val="solid"/>
          </a:ln>
        </p:spPr>
      </p:sp>
      <p:sp>
        <p:nvSpPr>
          <p:cNvPr id="25" name="High chip text"/>
          <p:cNvSpPr txBox="1"/>
          <p:nvPr/>
        </p:nvSpPr>
        <p:spPr>
          <a:xfrm>
            <a:off x="7863840" y="4636008"/>
            <a:ext cx="914400" cy="292608"/>
          </a:xfrm>
          <a:prstGeom prst="rect">
            <a:avLst/>
          </a:prstGeom>
          <a:noFill/>
          <a:ln/>
        </p:spPr>
        <p:txBody>
          <a:bodyPr wrap="square" lIns="0" tIns="0" rIns="0" bIns="0" rtlCol="0" anchor="ctr"/>
          <a:lstStyle/>
          <a:p>
            <a:pPr algn="ctr" indent="0" marL="0">
              <a:buNone/>
            </a:pPr>
            <a:r>
              <a:rPr lang="en-US" sz="1200" b="1" dirty="0">
                <a:solidFill>
                  <a:schemeClr val="bg1"/>
                </a:solidFill>
              </a:rPr>
              <a:t>High</a:t>
            </a:r>
            <a:endParaRPr lang="en-US" sz="1200" dirty="0"/>
          </a:p>
        </p:txBody>
      </p:sp>
      <p:sp>
        <p:nvSpPr>
          <p:cNvPr id="26" name="Open chip"/>
          <p:cNvSpPr/>
          <p:nvPr/>
        </p:nvSpPr>
        <p:spPr>
          <a:xfrm>
            <a:off x="8915400" y="4636008"/>
            <a:ext cx="914400" cy="292608"/>
          </a:xfrm>
          <a:prstGeom prst="roundRect">
            <a:avLst>
              <a:gd name="adj" fmla="val 50000"/>
            </a:avLst>
          </a:prstGeom>
          <a:solidFill>
            <a:schemeClr val="accent3"/>
          </a:solidFill>
          <a:ln w="12700">
            <a:solidFill>
              <a:schemeClr val="accent3"/>
            </a:solidFill>
            <a:prstDash val="solid"/>
          </a:ln>
        </p:spPr>
      </p:sp>
      <p:sp>
        <p:nvSpPr>
          <p:cNvPr id="27" name="Open chip text"/>
          <p:cNvSpPr txBox="1"/>
          <p:nvPr/>
        </p:nvSpPr>
        <p:spPr>
          <a:xfrm>
            <a:off x="8915400" y="4636008"/>
            <a:ext cx="914400" cy="292608"/>
          </a:xfrm>
          <a:prstGeom prst="rect">
            <a:avLst/>
          </a:prstGeom>
          <a:noFill/>
          <a:ln/>
        </p:spPr>
        <p:txBody>
          <a:bodyPr wrap="square" lIns="0" tIns="0" rIns="0" bIns="0" rtlCol="0" anchor="ctr"/>
          <a:lstStyle/>
          <a:p>
            <a:pPr algn="ctr" indent="0" marL="0">
              <a:buNone/>
            </a:pPr>
            <a:r>
              <a:rPr lang="en-US" sz="1200" b="1" dirty="0">
                <a:solidFill>
                  <a:schemeClr val="bg1"/>
                </a:solidFill>
              </a:rPr>
              <a:t>Open</a:t>
            </a:r>
            <a:endParaRPr lang="en-US" sz="1200" dirty="0"/>
          </a:p>
        </p:txBody>
      </p:sp>
      <p:sp>
        <p:nvSpPr>
          <p:cNvPr id="28" name="Approve button"/>
          <p:cNvSpPr/>
          <p:nvPr/>
        </p:nvSpPr>
        <p:spPr>
          <a:xfrm>
            <a:off x="7863840" y="5138928"/>
            <a:ext cx="1371600" cy="457200"/>
          </a:xfrm>
          <a:prstGeom prst="roundRect">
            <a:avLst>
              <a:gd name="adj" fmla="val 20000"/>
            </a:avLst>
          </a:prstGeom>
          <a:solidFill>
            <a:schemeClr val="accent1"/>
          </a:solidFill>
          <a:ln w="12700">
            <a:solidFill>
              <a:schemeClr val="accent1"/>
            </a:solidFill>
            <a:prstDash val="solid"/>
          </a:ln>
        </p:spPr>
      </p:sp>
      <p:sp>
        <p:nvSpPr>
          <p:cNvPr id="29" name="Approve text"/>
          <p:cNvSpPr txBox="1"/>
          <p:nvPr/>
        </p:nvSpPr>
        <p:spPr>
          <a:xfrm>
            <a:off x="7863840" y="5138928"/>
            <a:ext cx="1371600" cy="457200"/>
          </a:xfrm>
          <a:prstGeom prst="rect">
            <a:avLst/>
          </a:prstGeom>
          <a:noFill/>
          <a:ln/>
        </p:spPr>
        <p:txBody>
          <a:bodyPr wrap="square" lIns="0" tIns="0" rIns="0" bIns="0" rtlCol="0" anchor="ctr"/>
          <a:lstStyle/>
          <a:p>
            <a:pPr algn="ctr" indent="0" marL="0">
              <a:buNone/>
            </a:pPr>
            <a:r>
              <a:rPr lang="en-US" sz="1400" b="1" dirty="0">
                <a:solidFill>
                  <a:schemeClr val="bg1"/>
                </a:solidFill>
              </a:rPr>
              <a:t>Approve</a:t>
            </a:r>
            <a:endParaRPr lang="en-US" sz="1400" dirty="0"/>
          </a:p>
        </p:txBody>
      </p:sp>
      <p:sp>
        <p:nvSpPr>
          <p:cNvPr id="30" name="Reject button"/>
          <p:cNvSpPr/>
          <p:nvPr/>
        </p:nvSpPr>
        <p:spPr>
          <a:xfrm>
            <a:off x="9372600" y="5138928"/>
            <a:ext cx="1371600" cy="457200"/>
          </a:xfrm>
          <a:prstGeom prst="roundRect">
            <a:avLst>
              <a:gd name="adj" fmla="val 20000"/>
            </a:avLst>
          </a:prstGeom>
          <a:solidFill>
            <a:schemeClr val="bg1"/>
          </a:solidFill>
          <a:ln w="12700">
            <a:solidFill>
              <a:schemeClr val="tx2"/>
            </a:solidFill>
            <a:prstDash val="solid"/>
          </a:ln>
        </p:spPr>
      </p:sp>
      <p:sp>
        <p:nvSpPr>
          <p:cNvPr id="31" name="Reject text"/>
          <p:cNvSpPr txBox="1"/>
          <p:nvPr/>
        </p:nvSpPr>
        <p:spPr>
          <a:xfrm>
            <a:off x="9372600" y="5138928"/>
            <a:ext cx="1371600" cy="457200"/>
          </a:xfrm>
          <a:prstGeom prst="rect">
            <a:avLst/>
          </a:prstGeom>
          <a:noFill/>
          <a:ln/>
        </p:spPr>
        <p:txBody>
          <a:bodyPr wrap="square" lIns="0" tIns="0" rIns="0" bIns="0" rtlCol="0" anchor="ctr"/>
          <a:lstStyle/>
          <a:p>
            <a:pPr algn="ctr" indent="0" marL="0">
              <a:buNone/>
            </a:pPr>
            <a:r>
              <a:rPr lang="en-US" sz="1400" b="1" dirty="0">
                <a:solidFill>
                  <a:schemeClr val="tx1"/>
                </a:solidFill>
              </a:rPr>
              <a:t>Reject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Meetings end, but the follow-through gets lost</a:t>
            </a:r>
            <a:endParaRPr lang="en-US" sz="3400" dirty="0"/>
          </a:p>
        </p:txBody>
      </p:sp>
      <p:sp>
        <p:nvSpPr>
          <p:cNvPr id="3" name="Problem card 1"/>
          <p:cNvSpPr/>
          <p:nvPr/>
        </p:nvSpPr>
        <p:spPr>
          <a:xfrm>
            <a:off x="548640" y="1554480"/>
            <a:ext cx="3520440" cy="3246120"/>
          </a:xfrm>
          <a:prstGeom prst="roundRect">
            <a:avLst>
              <a:gd name="adj" fmla="val 3380"/>
            </a:avLst>
          </a:prstGeom>
          <a:solidFill>
            <a:schemeClr val="bg2"/>
          </a:solidFill>
          <a:ln w="12700">
            <a:solidFill>
              <a:schemeClr val="bg2"/>
            </a:solidFill>
            <a:prstDash val="solid"/>
          </a:ln>
        </p:spPr>
      </p:sp>
      <p:sp>
        <p:nvSpPr>
          <p:cNvPr id="4" name="Problem 1 circle"/>
          <p:cNvSpPr/>
          <p:nvPr/>
        </p:nvSpPr>
        <p:spPr>
          <a:xfrm>
            <a:off x="868680" y="1874520"/>
            <a:ext cx="777240" cy="777240"/>
          </a:xfrm>
          <a:prstGeom prst="ellipse">
            <a:avLst/>
          </a:prstGeom>
          <a:solidFill>
            <a:schemeClr val="accent1"/>
          </a:solidFill>
          <a:ln w="12700">
            <a:solidFill>
              <a:schemeClr val="accent1"/>
            </a:solidFill>
            <a:prstDash val="solid"/>
          </a:ln>
        </p:spPr>
      </p:sp>
      <p:pic>
        <p:nvPicPr>
          <p:cNvPr id="5" name="Problem 1 icon" descr="Problem 1">    </p:cNvPr>
          <p:cNvPicPr>
            <a:picLocks noChangeAspect="1"/>
          </p:cNvPicPr>
          <p:nvPr/>
        </p:nvPicPr>
        <p:blipFill>
          <a:blip r:embed="rId1"/>
          <a:stretch>
            <a:fillRect/>
          </a:stretch>
        </p:blipFill>
        <p:spPr>
          <a:xfrm>
            <a:off x="1078535" y="2084375"/>
            <a:ext cx="357530" cy="357530"/>
          </a:xfrm>
          <a:prstGeom prst="rect">
            <a:avLst/>
          </a:prstGeom>
        </p:spPr>
      </p:pic>
      <p:sp>
        <p:nvSpPr>
          <p:cNvPr id="6" name="Problem heading 1"/>
          <p:cNvSpPr txBox="1"/>
          <p:nvPr/>
        </p:nvSpPr>
        <p:spPr>
          <a:xfrm>
            <a:off x="868680" y="2926080"/>
            <a:ext cx="2880360" cy="457200"/>
          </a:xfrm>
          <a:prstGeom prst="rect">
            <a:avLst/>
          </a:prstGeom>
          <a:noFill/>
          <a:ln/>
        </p:spPr>
        <p:txBody>
          <a:bodyPr wrap="square" lIns="0" tIns="0" rIns="0" bIns="0" rtlCol="0" anchor="t"/>
          <a:lstStyle/>
          <a:p>
            <a:pPr indent="0" marL="0">
              <a:buNone/>
            </a:pPr>
            <a:r>
              <a:rPr lang="en-US" sz="2200" b="1" dirty="0">
                <a:solidFill>
                  <a:schemeClr val="tx1"/>
                </a:solidFill>
              </a:rPr>
              <a:t>Notes are scattered</a:t>
            </a:r>
            <a:endParaRPr lang="en-US" sz="2200" dirty="0"/>
          </a:p>
        </p:txBody>
      </p:sp>
      <p:sp>
        <p:nvSpPr>
          <p:cNvPr id="7" name="Problem body 1"/>
          <p:cNvSpPr txBox="1"/>
          <p:nvPr/>
        </p:nvSpPr>
        <p:spPr>
          <a:xfrm>
            <a:off x="868680" y="3474720"/>
            <a:ext cx="2880360" cy="1143000"/>
          </a:xfrm>
          <a:prstGeom prst="rect">
            <a:avLst/>
          </a:prstGeom>
          <a:noFill/>
          <a:ln/>
        </p:spPr>
        <p:txBody>
          <a:bodyPr wrap="square" lIns="0" tIns="0" rIns="0" bIns="0" rtlCol="0" anchor="t"/>
          <a:lstStyle/>
          <a:p>
            <a:pPr indent="0" marL="0">
              <a:buNone/>
            </a:pPr>
            <a:r>
              <a:rPr lang="en-US" sz="1600" dirty="0">
                <a:solidFill>
                  <a:schemeClr val="tx2"/>
                </a:solidFill>
              </a:rPr>
              <a:t>Decisions end up in chat threads, personal notes and people's memory.</a:t>
            </a:r>
            <a:endParaRPr lang="en-US" sz="1600" dirty="0"/>
          </a:p>
        </p:txBody>
      </p:sp>
      <p:sp>
        <p:nvSpPr>
          <p:cNvPr id="8" name="Problem card 2"/>
          <p:cNvSpPr/>
          <p:nvPr/>
        </p:nvSpPr>
        <p:spPr>
          <a:xfrm>
            <a:off x="4335628" y="1554480"/>
            <a:ext cx="3520440" cy="3246120"/>
          </a:xfrm>
          <a:prstGeom prst="roundRect">
            <a:avLst>
              <a:gd name="adj" fmla="val 3380"/>
            </a:avLst>
          </a:prstGeom>
          <a:solidFill>
            <a:schemeClr val="bg2"/>
          </a:solidFill>
          <a:ln w="12700">
            <a:solidFill>
              <a:schemeClr val="bg2"/>
            </a:solidFill>
            <a:prstDash val="solid"/>
          </a:ln>
        </p:spPr>
      </p:sp>
      <p:sp>
        <p:nvSpPr>
          <p:cNvPr id="9" name="Problem 2 circle"/>
          <p:cNvSpPr/>
          <p:nvPr/>
        </p:nvSpPr>
        <p:spPr>
          <a:xfrm>
            <a:off x="4655668" y="1874520"/>
            <a:ext cx="777240" cy="777240"/>
          </a:xfrm>
          <a:prstGeom prst="ellipse">
            <a:avLst/>
          </a:prstGeom>
          <a:solidFill>
            <a:schemeClr val="accent1"/>
          </a:solidFill>
          <a:ln w="12700">
            <a:solidFill>
              <a:schemeClr val="accent1"/>
            </a:solidFill>
            <a:prstDash val="solid"/>
          </a:ln>
        </p:spPr>
      </p:sp>
      <p:pic>
        <p:nvPicPr>
          <p:cNvPr id="10" name="Problem 2 icon" descr="Problem 2">    </p:cNvPr>
          <p:cNvPicPr>
            <a:picLocks noChangeAspect="1"/>
          </p:cNvPicPr>
          <p:nvPr/>
        </p:nvPicPr>
        <p:blipFill>
          <a:blip r:embed="rId2"/>
          <a:stretch>
            <a:fillRect/>
          </a:stretch>
        </p:blipFill>
        <p:spPr>
          <a:xfrm>
            <a:off x="4865522" y="2084375"/>
            <a:ext cx="357530" cy="357530"/>
          </a:xfrm>
          <a:prstGeom prst="rect">
            <a:avLst/>
          </a:prstGeom>
        </p:spPr>
      </p:pic>
      <p:sp>
        <p:nvSpPr>
          <p:cNvPr id="11" name="Problem heading 2"/>
          <p:cNvSpPr txBox="1"/>
          <p:nvPr/>
        </p:nvSpPr>
        <p:spPr>
          <a:xfrm>
            <a:off x="4655668" y="2926080"/>
            <a:ext cx="2880360" cy="457200"/>
          </a:xfrm>
          <a:prstGeom prst="rect">
            <a:avLst/>
          </a:prstGeom>
          <a:noFill/>
          <a:ln/>
        </p:spPr>
        <p:txBody>
          <a:bodyPr wrap="square" lIns="0" tIns="0" rIns="0" bIns="0" rtlCol="0" anchor="t"/>
          <a:lstStyle/>
          <a:p>
            <a:pPr indent="0" marL="0">
              <a:buNone/>
            </a:pPr>
            <a:r>
              <a:rPr lang="en-US" sz="2200" b="1" dirty="0">
                <a:solidFill>
                  <a:schemeClr val="tx1"/>
                </a:solidFill>
              </a:rPr>
              <a:t>Owners are unclear</a:t>
            </a:r>
            <a:endParaRPr lang="en-US" sz="2200" dirty="0"/>
          </a:p>
        </p:txBody>
      </p:sp>
      <p:sp>
        <p:nvSpPr>
          <p:cNvPr id="12" name="Problem body 2"/>
          <p:cNvSpPr txBox="1"/>
          <p:nvPr/>
        </p:nvSpPr>
        <p:spPr>
          <a:xfrm>
            <a:off x="4655668" y="3474720"/>
            <a:ext cx="2880360" cy="1143000"/>
          </a:xfrm>
          <a:prstGeom prst="rect">
            <a:avLst/>
          </a:prstGeom>
          <a:noFill/>
          <a:ln/>
        </p:spPr>
        <p:txBody>
          <a:bodyPr wrap="square" lIns="0" tIns="0" rIns="0" bIns="0" rtlCol="0" anchor="t"/>
          <a:lstStyle/>
          <a:p>
            <a:pPr indent="0" marL="0">
              <a:buNone/>
            </a:pPr>
            <a:r>
              <a:rPr lang="en-US" sz="1600" dirty="0">
                <a:solidFill>
                  <a:schemeClr val="tx2"/>
                </a:solidFill>
              </a:rPr>
              <a:t>“Someone should do this” never becomes a named person with a date.</a:t>
            </a:r>
            <a:endParaRPr lang="en-US" sz="1600" dirty="0"/>
          </a:p>
        </p:txBody>
      </p:sp>
      <p:sp>
        <p:nvSpPr>
          <p:cNvPr id="13" name="Problem card 3"/>
          <p:cNvSpPr/>
          <p:nvPr/>
        </p:nvSpPr>
        <p:spPr>
          <a:xfrm>
            <a:off x="8122615" y="1554480"/>
            <a:ext cx="3520440" cy="3246120"/>
          </a:xfrm>
          <a:prstGeom prst="roundRect">
            <a:avLst>
              <a:gd name="adj" fmla="val 3380"/>
            </a:avLst>
          </a:prstGeom>
          <a:solidFill>
            <a:schemeClr val="bg2"/>
          </a:solidFill>
          <a:ln w="12700">
            <a:solidFill>
              <a:schemeClr val="bg2"/>
            </a:solidFill>
            <a:prstDash val="solid"/>
          </a:ln>
        </p:spPr>
      </p:sp>
      <p:sp>
        <p:nvSpPr>
          <p:cNvPr id="14" name="Problem 3 circle"/>
          <p:cNvSpPr/>
          <p:nvPr/>
        </p:nvSpPr>
        <p:spPr>
          <a:xfrm>
            <a:off x="8442655" y="1874520"/>
            <a:ext cx="777240" cy="777240"/>
          </a:xfrm>
          <a:prstGeom prst="ellipse">
            <a:avLst/>
          </a:prstGeom>
          <a:solidFill>
            <a:schemeClr val="accent1"/>
          </a:solidFill>
          <a:ln w="12700">
            <a:solidFill>
              <a:schemeClr val="accent1"/>
            </a:solidFill>
            <a:prstDash val="solid"/>
          </a:ln>
        </p:spPr>
      </p:sp>
      <p:pic>
        <p:nvPicPr>
          <p:cNvPr id="15" name="Problem 3 icon" descr="Problem 3">    </p:cNvPr>
          <p:cNvPicPr>
            <a:picLocks noChangeAspect="1"/>
          </p:cNvPicPr>
          <p:nvPr/>
        </p:nvPicPr>
        <p:blipFill>
          <a:blip r:embed="rId3"/>
          <a:stretch>
            <a:fillRect/>
          </a:stretch>
        </p:blipFill>
        <p:spPr>
          <a:xfrm>
            <a:off x="8652510" y="2084375"/>
            <a:ext cx="357530" cy="357530"/>
          </a:xfrm>
          <a:prstGeom prst="rect">
            <a:avLst/>
          </a:prstGeom>
        </p:spPr>
      </p:pic>
      <p:sp>
        <p:nvSpPr>
          <p:cNvPr id="16" name="Problem heading 3"/>
          <p:cNvSpPr txBox="1"/>
          <p:nvPr/>
        </p:nvSpPr>
        <p:spPr>
          <a:xfrm>
            <a:off x="8442655" y="2926080"/>
            <a:ext cx="2880360" cy="457200"/>
          </a:xfrm>
          <a:prstGeom prst="rect">
            <a:avLst/>
          </a:prstGeom>
          <a:noFill/>
          <a:ln/>
        </p:spPr>
        <p:txBody>
          <a:bodyPr wrap="square" lIns="0" tIns="0" rIns="0" bIns="0" rtlCol="0" anchor="t"/>
          <a:lstStyle/>
          <a:p>
            <a:pPr indent="0" marL="0">
              <a:buNone/>
            </a:pPr>
            <a:r>
              <a:rPr lang="en-US" sz="2200" b="1" dirty="0">
                <a:solidFill>
                  <a:schemeClr val="tx1"/>
                </a:solidFill>
              </a:rPr>
              <a:t>Nobody tracks it</a:t>
            </a:r>
            <a:endParaRPr lang="en-US" sz="2200" dirty="0"/>
          </a:p>
        </p:txBody>
      </p:sp>
      <p:sp>
        <p:nvSpPr>
          <p:cNvPr id="17" name="Problem body 3"/>
          <p:cNvSpPr txBox="1"/>
          <p:nvPr/>
        </p:nvSpPr>
        <p:spPr>
          <a:xfrm>
            <a:off x="8442655" y="3474720"/>
            <a:ext cx="2880360" cy="1143000"/>
          </a:xfrm>
          <a:prstGeom prst="rect">
            <a:avLst/>
          </a:prstGeom>
          <a:noFill/>
          <a:ln/>
        </p:spPr>
        <p:txBody>
          <a:bodyPr wrap="square" lIns="0" tIns="0" rIns="0" bIns="0" rtlCol="0" anchor="t"/>
          <a:lstStyle/>
          <a:p>
            <a:pPr indent="0" marL="0">
              <a:buNone/>
            </a:pPr>
            <a:r>
              <a:rPr lang="en-US" sz="1600" dirty="0">
                <a:solidFill>
                  <a:schemeClr val="tx2"/>
                </a:solidFill>
              </a:rPr>
              <a:t>Without a shared status, late work only shows up when it is too late.</a:t>
            </a:r>
            <a:endParaRPr lang="en-US" sz="1600" dirty="0"/>
          </a:p>
        </p:txBody>
      </p:sp>
      <p:sp>
        <p:nvSpPr>
          <p:cNvPr id="18" name="Result banner"/>
          <p:cNvSpPr/>
          <p:nvPr/>
        </p:nvSpPr>
        <p:spPr>
          <a:xfrm>
            <a:off x="548640" y="5074920"/>
            <a:ext cx="11094415" cy="1005840"/>
          </a:xfrm>
          <a:prstGeom prst="roundRect">
            <a:avLst>
              <a:gd name="adj" fmla="val 10909"/>
            </a:avLst>
          </a:prstGeom>
          <a:solidFill>
            <a:schemeClr val="tx1"/>
          </a:solidFill>
          <a:ln w="12700">
            <a:solidFill>
              <a:schemeClr val="tx1"/>
            </a:solidFill>
            <a:prstDash val="solid"/>
          </a:ln>
        </p:spPr>
      </p:sp>
      <p:sp>
        <p:nvSpPr>
          <p:cNvPr id="19" name="Result text"/>
          <p:cNvSpPr txBox="1"/>
          <p:nvPr/>
        </p:nvSpPr>
        <p:spPr>
          <a:xfrm>
            <a:off x="914400" y="5074920"/>
            <a:ext cx="10362895" cy="1005840"/>
          </a:xfrm>
          <a:prstGeom prst="rect">
            <a:avLst/>
          </a:prstGeom>
          <a:noFill/>
          <a:ln/>
        </p:spPr>
        <p:txBody>
          <a:bodyPr wrap="square" lIns="0" tIns="0" rIns="0" bIns="0" rtlCol="0" anchor="ctr"/>
          <a:lstStyle/>
          <a:p>
            <a:pPr indent="0" marL="0">
              <a:buNone/>
            </a:pPr>
            <a:r>
              <a:rPr lang="en-US" sz="2000" b="1" dirty="0">
                <a:solidFill>
                  <a:schemeClr val="bg1"/>
                </a:solidFill>
              </a:rPr>
              <a:t>The result: decisions are forgotten, tasks slip, and the same discussion has to be repeated.</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One workflow: from transcript to tracked work</a:t>
            </a:r>
            <a:endParaRPr lang="en-US" sz="3400" dirty="0"/>
          </a:p>
        </p:txBody>
      </p:sp>
      <p:sp>
        <p:nvSpPr>
          <p:cNvPr id="3" name="Flow arrow 1"/>
          <p:cNvSpPr/>
          <p:nvPr/>
        </p:nvSpPr>
        <p:spPr>
          <a:xfrm>
            <a:off x="1980667" y="2217420"/>
            <a:ext cx="834085" cy="0"/>
          </a:xfrm>
          <a:prstGeom prst="line">
            <a:avLst/>
          </a:prstGeom>
          <a:noFill/>
          <a:ln w="25400">
            <a:solidFill>
              <a:schemeClr val="tx2"/>
            </a:solidFill>
            <a:prstDash val="solid"/>
            <a:tailEnd type="triangle"/>
          </a:ln>
        </p:spPr>
      </p:sp>
      <p:sp>
        <p:nvSpPr>
          <p:cNvPr id="4" name="Flow arrow 2"/>
          <p:cNvSpPr/>
          <p:nvPr/>
        </p:nvSpPr>
        <p:spPr>
          <a:xfrm>
            <a:off x="3829736" y="2217420"/>
            <a:ext cx="834085" cy="0"/>
          </a:xfrm>
          <a:prstGeom prst="line">
            <a:avLst/>
          </a:prstGeom>
          <a:noFill/>
          <a:ln w="25400">
            <a:solidFill>
              <a:schemeClr val="tx2"/>
            </a:solidFill>
            <a:prstDash val="solid"/>
            <a:tailEnd type="triangle"/>
          </a:ln>
        </p:spPr>
      </p:sp>
      <p:sp>
        <p:nvSpPr>
          <p:cNvPr id="5" name="Flow arrow 3"/>
          <p:cNvSpPr/>
          <p:nvPr/>
        </p:nvSpPr>
        <p:spPr>
          <a:xfrm>
            <a:off x="5678805" y="2217420"/>
            <a:ext cx="834085" cy="0"/>
          </a:xfrm>
          <a:prstGeom prst="line">
            <a:avLst/>
          </a:prstGeom>
          <a:noFill/>
          <a:ln w="25400">
            <a:solidFill>
              <a:schemeClr val="tx2"/>
            </a:solidFill>
            <a:prstDash val="solid"/>
            <a:tailEnd type="triangle"/>
          </a:ln>
        </p:spPr>
      </p:sp>
      <p:sp>
        <p:nvSpPr>
          <p:cNvPr id="6" name="Flow arrow 4"/>
          <p:cNvSpPr/>
          <p:nvPr/>
        </p:nvSpPr>
        <p:spPr>
          <a:xfrm>
            <a:off x="7527874" y="2217420"/>
            <a:ext cx="834085" cy="0"/>
          </a:xfrm>
          <a:prstGeom prst="line">
            <a:avLst/>
          </a:prstGeom>
          <a:noFill/>
          <a:ln w="25400">
            <a:solidFill>
              <a:schemeClr val="tx2"/>
            </a:solidFill>
            <a:prstDash val="solid"/>
            <a:tailEnd type="triangle"/>
          </a:ln>
        </p:spPr>
      </p:sp>
      <p:sp>
        <p:nvSpPr>
          <p:cNvPr id="7" name="Flow arrow 5"/>
          <p:cNvSpPr/>
          <p:nvPr/>
        </p:nvSpPr>
        <p:spPr>
          <a:xfrm>
            <a:off x="9376943" y="2217420"/>
            <a:ext cx="834085" cy="0"/>
          </a:xfrm>
          <a:prstGeom prst="line">
            <a:avLst/>
          </a:prstGeom>
          <a:noFill/>
          <a:ln w="25400">
            <a:solidFill>
              <a:schemeClr val="tx2"/>
            </a:solidFill>
            <a:prstDash val="solid"/>
            <a:tailEnd type="triangle"/>
          </a:ln>
        </p:spPr>
      </p:sp>
      <p:sp>
        <p:nvSpPr>
          <p:cNvPr id="8" name="Step 1"/>
          <p:cNvSpPr/>
          <p:nvPr/>
        </p:nvSpPr>
        <p:spPr>
          <a:xfrm>
            <a:off x="1038835" y="1783080"/>
            <a:ext cx="868680" cy="868680"/>
          </a:xfrm>
          <a:prstGeom prst="ellipse">
            <a:avLst/>
          </a:prstGeom>
          <a:solidFill>
            <a:schemeClr val="accent1"/>
          </a:solidFill>
          <a:ln w="12700">
            <a:solidFill>
              <a:schemeClr val="accent1"/>
            </a:solidFill>
            <a:prstDash val="solid"/>
          </a:ln>
        </p:spPr>
      </p:sp>
      <p:sp>
        <p:nvSpPr>
          <p:cNvPr id="9" name="Step 1 number"/>
          <p:cNvSpPr txBox="1"/>
          <p:nvPr/>
        </p:nvSpPr>
        <p:spPr>
          <a:xfrm>
            <a:off x="1038835" y="1783080"/>
            <a:ext cx="868680" cy="86868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10" name="Step heading 1"/>
          <p:cNvSpPr txBox="1"/>
          <p:nvPr/>
        </p:nvSpPr>
        <p:spPr>
          <a:xfrm>
            <a:off x="594360" y="2880360"/>
            <a:ext cx="1757629" cy="411480"/>
          </a:xfrm>
          <a:prstGeom prst="rect">
            <a:avLst/>
          </a:prstGeom>
          <a:noFill/>
          <a:ln/>
        </p:spPr>
        <p:txBody>
          <a:bodyPr wrap="square" lIns="0" tIns="0" rIns="0" bIns="0" rtlCol="0" anchor="t"/>
          <a:lstStyle/>
          <a:p>
            <a:pPr algn="ctr" indent="0" marL="0">
              <a:buNone/>
            </a:pPr>
            <a:r>
              <a:rPr lang="en-US" sz="1800" b="1" dirty="0">
                <a:solidFill>
                  <a:schemeClr val="tx1"/>
                </a:solidFill>
              </a:rPr>
              <a:t>Transcript</a:t>
            </a:r>
            <a:endParaRPr lang="en-US" sz="1800" dirty="0"/>
          </a:p>
        </p:txBody>
      </p:sp>
      <p:sp>
        <p:nvSpPr>
          <p:cNvPr id="11" name="Step body 1"/>
          <p:cNvSpPr txBox="1"/>
          <p:nvPr/>
        </p:nvSpPr>
        <p:spPr>
          <a:xfrm>
            <a:off x="640080" y="3383280"/>
            <a:ext cx="1666189" cy="1005840"/>
          </a:xfrm>
          <a:prstGeom prst="rect">
            <a:avLst/>
          </a:prstGeom>
          <a:noFill/>
          <a:ln/>
        </p:spPr>
        <p:txBody>
          <a:bodyPr wrap="square" lIns="0" tIns="0" rIns="0" bIns="0" rtlCol="0" anchor="t"/>
          <a:lstStyle/>
          <a:p>
            <a:pPr algn="ctr" indent="0" marL="0">
              <a:buNone/>
            </a:pPr>
            <a:r>
              <a:rPr lang="en-US" sz="1400" dirty="0">
                <a:solidFill>
                  <a:schemeClr val="tx2"/>
                </a:solidFill>
              </a:rPr>
              <a:t>Paste text or upload a .txt file</a:t>
            </a:r>
            <a:endParaRPr lang="en-US" sz="1400" dirty="0"/>
          </a:p>
        </p:txBody>
      </p:sp>
      <p:sp>
        <p:nvSpPr>
          <p:cNvPr id="12" name="Step 2"/>
          <p:cNvSpPr/>
          <p:nvPr/>
        </p:nvSpPr>
        <p:spPr>
          <a:xfrm>
            <a:off x="2887904" y="1783080"/>
            <a:ext cx="868680" cy="868680"/>
          </a:xfrm>
          <a:prstGeom prst="ellipse">
            <a:avLst/>
          </a:prstGeom>
          <a:solidFill>
            <a:schemeClr val="accent1"/>
          </a:solidFill>
          <a:ln w="12700">
            <a:solidFill>
              <a:schemeClr val="accent1"/>
            </a:solidFill>
            <a:prstDash val="solid"/>
          </a:ln>
        </p:spPr>
      </p:sp>
      <p:sp>
        <p:nvSpPr>
          <p:cNvPr id="13" name="Step 2 number"/>
          <p:cNvSpPr txBox="1"/>
          <p:nvPr/>
        </p:nvSpPr>
        <p:spPr>
          <a:xfrm>
            <a:off x="2887904" y="1783080"/>
            <a:ext cx="868680" cy="86868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4" name="Step heading 2"/>
          <p:cNvSpPr txBox="1"/>
          <p:nvPr/>
        </p:nvSpPr>
        <p:spPr>
          <a:xfrm>
            <a:off x="2443429" y="2880360"/>
            <a:ext cx="1757629" cy="411480"/>
          </a:xfrm>
          <a:prstGeom prst="rect">
            <a:avLst/>
          </a:prstGeom>
          <a:noFill/>
          <a:ln/>
        </p:spPr>
        <p:txBody>
          <a:bodyPr wrap="square" lIns="0" tIns="0" rIns="0" bIns="0" rtlCol="0" anchor="t"/>
          <a:lstStyle/>
          <a:p>
            <a:pPr algn="ctr" indent="0" marL="0">
              <a:buNone/>
            </a:pPr>
            <a:r>
              <a:rPr lang="en-US" sz="1800" b="1" dirty="0">
                <a:solidFill>
                  <a:schemeClr val="tx1"/>
                </a:solidFill>
              </a:rPr>
              <a:t>AI analysis</a:t>
            </a:r>
            <a:endParaRPr lang="en-US" sz="1800" dirty="0"/>
          </a:p>
        </p:txBody>
      </p:sp>
      <p:sp>
        <p:nvSpPr>
          <p:cNvPr id="15" name="Step body 2"/>
          <p:cNvSpPr txBox="1"/>
          <p:nvPr/>
        </p:nvSpPr>
        <p:spPr>
          <a:xfrm>
            <a:off x="2489149" y="3383280"/>
            <a:ext cx="1666189" cy="1005840"/>
          </a:xfrm>
          <a:prstGeom prst="rect">
            <a:avLst/>
          </a:prstGeom>
          <a:noFill/>
          <a:ln/>
        </p:spPr>
        <p:txBody>
          <a:bodyPr wrap="square" lIns="0" tIns="0" rIns="0" bIns="0" rtlCol="0" anchor="t"/>
          <a:lstStyle/>
          <a:p>
            <a:pPr algn="ctr" indent="0" marL="0">
              <a:buNone/>
            </a:pPr>
            <a:r>
              <a:rPr lang="en-US" sz="1400" dirty="0">
                <a:solidFill>
                  <a:schemeClr val="tx2"/>
                </a:solidFill>
              </a:rPr>
              <a:t>Summary, decisions and action items</a:t>
            </a:r>
            <a:endParaRPr lang="en-US" sz="1400" dirty="0"/>
          </a:p>
        </p:txBody>
      </p:sp>
      <p:sp>
        <p:nvSpPr>
          <p:cNvPr id="16" name="Step 3"/>
          <p:cNvSpPr/>
          <p:nvPr/>
        </p:nvSpPr>
        <p:spPr>
          <a:xfrm>
            <a:off x="4736973" y="1783080"/>
            <a:ext cx="868680" cy="868680"/>
          </a:xfrm>
          <a:prstGeom prst="ellipse">
            <a:avLst/>
          </a:prstGeom>
          <a:solidFill>
            <a:schemeClr val="accent2"/>
          </a:solidFill>
          <a:ln w="12700">
            <a:solidFill>
              <a:schemeClr val="accent2"/>
            </a:solidFill>
            <a:prstDash val="solid"/>
          </a:ln>
        </p:spPr>
      </p:sp>
      <p:sp>
        <p:nvSpPr>
          <p:cNvPr id="17" name="Step 3 number"/>
          <p:cNvSpPr txBox="1"/>
          <p:nvPr/>
        </p:nvSpPr>
        <p:spPr>
          <a:xfrm>
            <a:off x="4736973" y="1783080"/>
            <a:ext cx="868680" cy="86868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8" name="Step heading 3"/>
          <p:cNvSpPr txBox="1"/>
          <p:nvPr/>
        </p:nvSpPr>
        <p:spPr>
          <a:xfrm>
            <a:off x="4292498" y="2880360"/>
            <a:ext cx="1757629" cy="411480"/>
          </a:xfrm>
          <a:prstGeom prst="rect">
            <a:avLst/>
          </a:prstGeom>
          <a:noFill/>
          <a:ln/>
        </p:spPr>
        <p:txBody>
          <a:bodyPr wrap="square" lIns="0" tIns="0" rIns="0" bIns="0" rtlCol="0" anchor="t"/>
          <a:lstStyle/>
          <a:p>
            <a:pPr algn="ctr" indent="0" marL="0">
              <a:buNone/>
            </a:pPr>
            <a:r>
              <a:rPr lang="en-US" sz="1800" b="1" dirty="0">
                <a:solidFill>
                  <a:schemeClr val="tx1"/>
                </a:solidFill>
              </a:rPr>
              <a:t>Human review</a:t>
            </a:r>
            <a:endParaRPr lang="en-US" sz="1800" dirty="0"/>
          </a:p>
        </p:txBody>
      </p:sp>
      <p:sp>
        <p:nvSpPr>
          <p:cNvPr id="19" name="Step body 3"/>
          <p:cNvSpPr txBox="1"/>
          <p:nvPr/>
        </p:nvSpPr>
        <p:spPr>
          <a:xfrm>
            <a:off x="4338218" y="3383280"/>
            <a:ext cx="1666189" cy="1005840"/>
          </a:xfrm>
          <a:prstGeom prst="rect">
            <a:avLst/>
          </a:prstGeom>
          <a:noFill/>
          <a:ln/>
        </p:spPr>
        <p:txBody>
          <a:bodyPr wrap="square" lIns="0" tIns="0" rIns="0" bIns="0" rtlCol="0" anchor="t"/>
          <a:lstStyle/>
          <a:p>
            <a:pPr algn="ctr" indent="0" marL="0">
              <a:buNone/>
            </a:pPr>
            <a:r>
              <a:rPr lang="en-US" sz="1400" dirty="0">
                <a:solidFill>
                  <a:schemeClr val="tx2"/>
                </a:solidFill>
              </a:rPr>
              <a:t>Edit, reject or approve each item</a:t>
            </a:r>
            <a:endParaRPr lang="en-US" sz="1400" dirty="0"/>
          </a:p>
        </p:txBody>
      </p:sp>
      <p:sp>
        <p:nvSpPr>
          <p:cNvPr id="20" name="Step 4"/>
          <p:cNvSpPr/>
          <p:nvPr/>
        </p:nvSpPr>
        <p:spPr>
          <a:xfrm>
            <a:off x="6586042" y="1783080"/>
            <a:ext cx="868680" cy="868680"/>
          </a:xfrm>
          <a:prstGeom prst="ellipse">
            <a:avLst/>
          </a:prstGeom>
          <a:solidFill>
            <a:schemeClr val="accent1"/>
          </a:solidFill>
          <a:ln w="12700">
            <a:solidFill>
              <a:schemeClr val="accent1"/>
            </a:solidFill>
            <a:prstDash val="solid"/>
          </a:ln>
        </p:spPr>
      </p:sp>
      <p:sp>
        <p:nvSpPr>
          <p:cNvPr id="21" name="Step 4 number"/>
          <p:cNvSpPr txBox="1"/>
          <p:nvPr/>
        </p:nvSpPr>
        <p:spPr>
          <a:xfrm>
            <a:off x="6586042" y="1783080"/>
            <a:ext cx="868680" cy="86868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22" name="Step heading 4"/>
          <p:cNvSpPr txBox="1"/>
          <p:nvPr/>
        </p:nvSpPr>
        <p:spPr>
          <a:xfrm>
            <a:off x="6141568" y="2880360"/>
            <a:ext cx="1757629" cy="411480"/>
          </a:xfrm>
          <a:prstGeom prst="rect">
            <a:avLst/>
          </a:prstGeom>
          <a:noFill/>
          <a:ln/>
        </p:spPr>
        <p:txBody>
          <a:bodyPr wrap="square" lIns="0" tIns="0" rIns="0" bIns="0" rtlCol="0" anchor="t"/>
          <a:lstStyle/>
          <a:p>
            <a:pPr algn="ctr" indent="0" marL="0">
              <a:buNone/>
            </a:pPr>
            <a:r>
              <a:rPr lang="en-US" sz="1800" b="1" dirty="0">
                <a:solidFill>
                  <a:schemeClr val="tx1"/>
                </a:solidFill>
              </a:rPr>
              <a:t>Approved tasks</a:t>
            </a:r>
            <a:endParaRPr lang="en-US" sz="1800" dirty="0"/>
          </a:p>
        </p:txBody>
      </p:sp>
      <p:sp>
        <p:nvSpPr>
          <p:cNvPr id="23" name="Step body 4"/>
          <p:cNvSpPr txBox="1"/>
          <p:nvPr/>
        </p:nvSpPr>
        <p:spPr>
          <a:xfrm>
            <a:off x="6187288" y="3383280"/>
            <a:ext cx="1666189" cy="1005840"/>
          </a:xfrm>
          <a:prstGeom prst="rect">
            <a:avLst/>
          </a:prstGeom>
          <a:noFill/>
          <a:ln/>
        </p:spPr>
        <p:txBody>
          <a:bodyPr wrap="square" lIns="0" tIns="0" rIns="0" bIns="0" rtlCol="0" anchor="t"/>
          <a:lstStyle/>
          <a:p>
            <a:pPr algn="ctr" indent="0" marL="0">
              <a:buNone/>
            </a:pPr>
            <a:r>
              <a:rPr lang="en-US" sz="1400" dirty="0">
                <a:solidFill>
                  <a:schemeClr val="tx2"/>
                </a:solidFill>
              </a:rPr>
              <a:t>Only approved items become tasks</a:t>
            </a:r>
            <a:endParaRPr lang="en-US" sz="1400" dirty="0"/>
          </a:p>
        </p:txBody>
      </p:sp>
      <p:sp>
        <p:nvSpPr>
          <p:cNvPr id="24" name="Step 5"/>
          <p:cNvSpPr/>
          <p:nvPr/>
        </p:nvSpPr>
        <p:spPr>
          <a:xfrm>
            <a:off x="8435111" y="1783080"/>
            <a:ext cx="868680" cy="868680"/>
          </a:xfrm>
          <a:prstGeom prst="ellipse">
            <a:avLst/>
          </a:prstGeom>
          <a:solidFill>
            <a:schemeClr val="accent1"/>
          </a:solidFill>
          <a:ln w="12700">
            <a:solidFill>
              <a:schemeClr val="accent1"/>
            </a:solidFill>
            <a:prstDash val="solid"/>
          </a:ln>
        </p:spPr>
      </p:sp>
      <p:sp>
        <p:nvSpPr>
          <p:cNvPr id="25" name="Step 5 number"/>
          <p:cNvSpPr txBox="1"/>
          <p:nvPr/>
        </p:nvSpPr>
        <p:spPr>
          <a:xfrm>
            <a:off x="8435111" y="1783080"/>
            <a:ext cx="868680" cy="868680"/>
          </a:xfrm>
          <a:prstGeom prst="rect">
            <a:avLst/>
          </a:prstGeom>
          <a:noFill/>
          <a:ln/>
        </p:spPr>
        <p:txBody>
          <a:bodyPr wrap="square" lIns="0" tIns="0" rIns="0" bIns="0" rtlCol="0" anchor="ctr"/>
          <a:lstStyle/>
          <a:p>
            <a:pPr algn="ctr" indent="0" marL="0">
              <a:buNone/>
            </a:pPr>
            <a:r>
              <a:rPr lang="en-US" sz="2800" b="1" dirty="0">
                <a:solidFill>
                  <a:schemeClr val="bg1"/>
                </a:solidFill>
              </a:rPr>
              <a:t>5</a:t>
            </a:r>
            <a:endParaRPr lang="en-US" sz="2800" dirty="0"/>
          </a:p>
        </p:txBody>
      </p:sp>
      <p:sp>
        <p:nvSpPr>
          <p:cNvPr id="26" name="Step heading 5"/>
          <p:cNvSpPr txBox="1"/>
          <p:nvPr/>
        </p:nvSpPr>
        <p:spPr>
          <a:xfrm>
            <a:off x="7990637" y="2880360"/>
            <a:ext cx="1757629" cy="411480"/>
          </a:xfrm>
          <a:prstGeom prst="rect">
            <a:avLst/>
          </a:prstGeom>
          <a:noFill/>
          <a:ln/>
        </p:spPr>
        <p:txBody>
          <a:bodyPr wrap="square" lIns="0" tIns="0" rIns="0" bIns="0" rtlCol="0" anchor="t"/>
          <a:lstStyle/>
          <a:p>
            <a:pPr algn="ctr" indent="0" marL="0">
              <a:buNone/>
            </a:pPr>
            <a:r>
              <a:rPr lang="en-US" sz="1800" b="1" dirty="0">
                <a:solidFill>
                  <a:schemeClr val="tx1"/>
                </a:solidFill>
              </a:rPr>
              <a:t>Kanban tracking</a:t>
            </a:r>
            <a:endParaRPr lang="en-US" sz="1800" dirty="0"/>
          </a:p>
        </p:txBody>
      </p:sp>
      <p:sp>
        <p:nvSpPr>
          <p:cNvPr id="27" name="Step body 5"/>
          <p:cNvSpPr txBox="1"/>
          <p:nvPr/>
        </p:nvSpPr>
        <p:spPr>
          <a:xfrm>
            <a:off x="8036357" y="3383280"/>
            <a:ext cx="1666189" cy="1005840"/>
          </a:xfrm>
          <a:prstGeom prst="rect">
            <a:avLst/>
          </a:prstGeom>
          <a:noFill/>
          <a:ln/>
        </p:spPr>
        <p:txBody>
          <a:bodyPr wrap="square" lIns="0" tIns="0" rIns="0" bIns="0" rtlCol="0" anchor="t"/>
          <a:lstStyle/>
          <a:p>
            <a:pPr algn="ctr" indent="0" marL="0">
              <a:buNone/>
            </a:pPr>
            <a:r>
              <a:rPr lang="en-US" sz="1400" dirty="0">
                <a:solidFill>
                  <a:schemeClr val="tx2"/>
                </a:solidFill>
              </a:rPr>
              <a:t>Open, In Progress, Hold, Completed</a:t>
            </a:r>
            <a:endParaRPr lang="en-US" sz="1400" dirty="0"/>
          </a:p>
        </p:txBody>
      </p:sp>
      <p:sp>
        <p:nvSpPr>
          <p:cNvPr id="28" name="Step 6"/>
          <p:cNvSpPr/>
          <p:nvPr/>
        </p:nvSpPr>
        <p:spPr>
          <a:xfrm>
            <a:off x="10284181" y="1783080"/>
            <a:ext cx="868680" cy="868680"/>
          </a:xfrm>
          <a:prstGeom prst="ellipse">
            <a:avLst/>
          </a:prstGeom>
          <a:solidFill>
            <a:schemeClr val="accent1"/>
          </a:solidFill>
          <a:ln w="12700">
            <a:solidFill>
              <a:schemeClr val="accent1"/>
            </a:solidFill>
            <a:prstDash val="solid"/>
          </a:ln>
        </p:spPr>
      </p:sp>
      <p:sp>
        <p:nvSpPr>
          <p:cNvPr id="29" name="Step 6 number"/>
          <p:cNvSpPr txBox="1"/>
          <p:nvPr/>
        </p:nvSpPr>
        <p:spPr>
          <a:xfrm>
            <a:off x="10284181" y="1783080"/>
            <a:ext cx="868680" cy="868680"/>
          </a:xfrm>
          <a:prstGeom prst="rect">
            <a:avLst/>
          </a:prstGeom>
          <a:noFill/>
          <a:ln/>
        </p:spPr>
        <p:txBody>
          <a:bodyPr wrap="square" lIns="0" tIns="0" rIns="0" bIns="0" rtlCol="0" anchor="ctr"/>
          <a:lstStyle/>
          <a:p>
            <a:pPr algn="ctr" indent="0" marL="0">
              <a:buNone/>
            </a:pPr>
            <a:r>
              <a:rPr lang="en-US" sz="2800" b="1" dirty="0">
                <a:solidFill>
                  <a:schemeClr val="bg1"/>
                </a:solidFill>
              </a:rPr>
              <a:t>6</a:t>
            </a:r>
            <a:endParaRPr lang="en-US" sz="2800" dirty="0"/>
          </a:p>
        </p:txBody>
      </p:sp>
      <p:sp>
        <p:nvSpPr>
          <p:cNvPr id="30" name="Step heading 6"/>
          <p:cNvSpPr txBox="1"/>
          <p:nvPr/>
        </p:nvSpPr>
        <p:spPr>
          <a:xfrm>
            <a:off x="9839706" y="2880360"/>
            <a:ext cx="1757629" cy="411480"/>
          </a:xfrm>
          <a:prstGeom prst="rect">
            <a:avLst/>
          </a:prstGeom>
          <a:noFill/>
          <a:ln/>
        </p:spPr>
        <p:txBody>
          <a:bodyPr wrap="square" lIns="0" tIns="0" rIns="0" bIns="0" rtlCol="0" anchor="t"/>
          <a:lstStyle/>
          <a:p>
            <a:pPr algn="ctr" indent="0" marL="0">
              <a:buNone/>
            </a:pPr>
            <a:r>
              <a:rPr lang="en-US" sz="1800" b="1" dirty="0">
                <a:solidFill>
                  <a:schemeClr val="tx1"/>
                </a:solidFill>
              </a:rPr>
              <a:t>Dashboard</a:t>
            </a:r>
            <a:endParaRPr lang="en-US" sz="1800" dirty="0"/>
          </a:p>
        </p:txBody>
      </p:sp>
      <p:sp>
        <p:nvSpPr>
          <p:cNvPr id="31" name="Step body 6"/>
          <p:cNvSpPr txBox="1"/>
          <p:nvPr/>
        </p:nvSpPr>
        <p:spPr>
          <a:xfrm>
            <a:off x="9885426" y="3383280"/>
            <a:ext cx="1666189" cy="1005840"/>
          </a:xfrm>
          <a:prstGeom prst="rect">
            <a:avLst/>
          </a:prstGeom>
          <a:noFill/>
          <a:ln/>
        </p:spPr>
        <p:txBody>
          <a:bodyPr wrap="square" lIns="0" tIns="0" rIns="0" bIns="0" rtlCol="0" anchor="t"/>
          <a:lstStyle/>
          <a:p>
            <a:pPr algn="ctr" indent="0" marL="0">
              <a:buNone/>
            </a:pPr>
            <a:r>
              <a:rPr lang="en-US" sz="1400" dirty="0">
                <a:solidFill>
                  <a:schemeClr val="tx2"/>
                </a:solidFill>
              </a:rPr>
              <a:t>Overdue work, owners, progress</a:t>
            </a:r>
            <a:endParaRPr lang="en-US" sz="1400" dirty="0"/>
          </a:p>
        </p:txBody>
      </p:sp>
      <p:sp>
        <p:nvSpPr>
          <p:cNvPr id="32" name="Key idea callout"/>
          <p:cNvSpPr/>
          <p:nvPr/>
        </p:nvSpPr>
        <p:spPr>
          <a:xfrm>
            <a:off x="548640" y="4572000"/>
            <a:ext cx="11094415" cy="1234440"/>
          </a:xfrm>
          <a:prstGeom prst="roundRect">
            <a:avLst>
              <a:gd name="adj" fmla="val 8889"/>
            </a:avLst>
          </a:prstGeom>
          <a:solidFill>
            <a:schemeClr val="bg2"/>
          </a:solidFill>
          <a:ln w="12700">
            <a:solidFill>
              <a:schemeClr val="bg2"/>
            </a:solidFill>
            <a:prstDash val="solid"/>
          </a:ln>
        </p:spPr>
      </p:sp>
      <p:sp>
        <p:nvSpPr>
          <p:cNvPr id="33" name="Human review circle"/>
          <p:cNvSpPr/>
          <p:nvPr/>
        </p:nvSpPr>
        <p:spPr>
          <a:xfrm>
            <a:off x="914400" y="4846320"/>
            <a:ext cx="685800" cy="685800"/>
          </a:xfrm>
          <a:prstGeom prst="ellipse">
            <a:avLst/>
          </a:prstGeom>
          <a:solidFill>
            <a:schemeClr val="accent2"/>
          </a:solidFill>
          <a:ln w="12700">
            <a:solidFill>
              <a:schemeClr val="accent2"/>
            </a:solidFill>
            <a:prstDash val="solid"/>
          </a:ln>
        </p:spPr>
      </p:sp>
      <p:pic>
        <p:nvPicPr>
          <p:cNvPr id="34" name="Human review icon" descr="Human review">    </p:cNvPr>
          <p:cNvPicPr>
            <a:picLocks noChangeAspect="1"/>
          </p:cNvPicPr>
          <p:nvPr/>
        </p:nvPicPr>
        <p:blipFill>
          <a:blip r:embed="rId1"/>
          <a:stretch>
            <a:fillRect/>
          </a:stretch>
        </p:blipFill>
        <p:spPr>
          <a:xfrm>
            <a:off x="1099566" y="5031486"/>
            <a:ext cx="315468" cy="315468"/>
          </a:xfrm>
          <a:prstGeom prst="rect">
            <a:avLst/>
          </a:prstGeom>
        </p:spPr>
      </p:pic>
      <p:sp>
        <p:nvSpPr>
          <p:cNvPr id="35" name="Key idea text"/>
          <p:cNvSpPr txBox="1"/>
          <p:nvPr/>
        </p:nvSpPr>
        <p:spPr>
          <a:xfrm>
            <a:off x="1920240" y="4572000"/>
            <a:ext cx="9357055" cy="1234440"/>
          </a:xfrm>
          <a:prstGeom prst="rect">
            <a:avLst/>
          </a:prstGeom>
          <a:noFill/>
          <a:ln/>
        </p:spPr>
        <p:txBody>
          <a:bodyPr wrap="square" lIns="0" tIns="0" rIns="0" bIns="0" rtlCol="0" anchor="ctr"/>
          <a:lstStyle/>
          <a:p>
            <a:pPr indent="0" marL="0">
              <a:buNone/>
            </a:pPr>
            <a:r>
              <a:rPr lang="en-US" sz="2000" b="1" dirty="0">
                <a:solidFill>
                  <a:schemeClr val="tx1"/>
                </a:solidFill>
              </a:rPr>
              <a:t>The key idea: </a:t>
            </a:r>
            <a:pPr indent="0" marL="0">
              <a:buNone/>
            </a:pPr>
            <a:r>
              <a:rPr lang="en-US" sz="2000" dirty="0">
                <a:solidFill>
                  <a:schemeClr val="tx1"/>
                </a:solidFill>
              </a:rPr>
              <a:t>AI drafts, people decide. Nothing becomes a task until a person has reviewed and approved it.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What you get from a single transcript</a:t>
            </a:r>
            <a:endParaRPr lang="en-US" sz="3400" dirty="0"/>
          </a:p>
        </p:txBody>
      </p:sp>
      <p:sp>
        <p:nvSpPr>
          <p:cNvPr id="3" name="Feature card 1"/>
          <p:cNvSpPr/>
          <p:nvPr/>
        </p:nvSpPr>
        <p:spPr>
          <a:xfrm>
            <a:off x="548640" y="1508760"/>
            <a:ext cx="3520440" cy="2103120"/>
          </a:xfrm>
          <a:prstGeom prst="roundRect">
            <a:avLst>
              <a:gd name="adj" fmla="val 5217"/>
            </a:avLst>
          </a:prstGeom>
          <a:solidFill>
            <a:schemeClr val="bg2"/>
          </a:solidFill>
          <a:ln w="12700">
            <a:solidFill>
              <a:schemeClr val="bg2"/>
            </a:solidFill>
            <a:prstDash val="solid"/>
          </a:ln>
        </p:spPr>
      </p:sp>
      <p:sp>
        <p:nvSpPr>
          <p:cNvPr id="4" name="Feature 1 circle"/>
          <p:cNvSpPr/>
          <p:nvPr/>
        </p:nvSpPr>
        <p:spPr>
          <a:xfrm>
            <a:off x="822960" y="1783080"/>
            <a:ext cx="640080" cy="640080"/>
          </a:xfrm>
          <a:prstGeom prst="ellipse">
            <a:avLst/>
          </a:prstGeom>
          <a:solidFill>
            <a:schemeClr val="accent1"/>
          </a:solidFill>
          <a:ln w="12700">
            <a:solidFill>
              <a:schemeClr val="accent1"/>
            </a:solidFill>
            <a:prstDash val="solid"/>
          </a:ln>
        </p:spPr>
      </p:sp>
      <p:pic>
        <p:nvPicPr>
          <p:cNvPr id="5" name="Feature 1 icon" descr="Feature 1">    </p:cNvPr>
          <p:cNvPicPr>
            <a:picLocks noChangeAspect="1"/>
          </p:cNvPicPr>
          <p:nvPr/>
        </p:nvPicPr>
        <p:blipFill>
          <a:blip r:embed="rId1"/>
          <a:stretch>
            <a:fillRect/>
          </a:stretch>
        </p:blipFill>
        <p:spPr>
          <a:xfrm>
            <a:off x="995782" y="1955902"/>
            <a:ext cx="294437" cy="294437"/>
          </a:xfrm>
          <a:prstGeom prst="rect">
            <a:avLst/>
          </a:prstGeom>
        </p:spPr>
      </p:pic>
      <p:sp>
        <p:nvSpPr>
          <p:cNvPr id="6" name="Feature heading 1"/>
          <p:cNvSpPr txBox="1"/>
          <p:nvPr/>
        </p:nvSpPr>
        <p:spPr>
          <a:xfrm>
            <a:off x="822960" y="2514600"/>
            <a:ext cx="2971800" cy="365760"/>
          </a:xfrm>
          <a:prstGeom prst="rect">
            <a:avLst/>
          </a:prstGeom>
          <a:noFill/>
          <a:ln/>
        </p:spPr>
        <p:txBody>
          <a:bodyPr wrap="square" lIns="0" tIns="0" rIns="0" bIns="0" rtlCol="0" anchor="t"/>
          <a:lstStyle/>
          <a:p>
            <a:pPr indent="0" marL="0">
              <a:buNone/>
            </a:pPr>
            <a:r>
              <a:rPr lang="en-US" sz="1900" b="1" dirty="0">
                <a:solidFill>
                  <a:schemeClr val="tx1"/>
                </a:solidFill>
              </a:rPr>
              <a:t>Executive summary</a:t>
            </a:r>
            <a:endParaRPr lang="en-US" sz="1900" dirty="0"/>
          </a:p>
        </p:txBody>
      </p:sp>
      <p:sp>
        <p:nvSpPr>
          <p:cNvPr id="7" name="Feature body 1"/>
          <p:cNvSpPr txBox="1"/>
          <p:nvPr/>
        </p:nvSpPr>
        <p:spPr>
          <a:xfrm>
            <a:off x="822960" y="2926080"/>
            <a:ext cx="2971800" cy="685800"/>
          </a:xfrm>
          <a:prstGeom prst="rect">
            <a:avLst/>
          </a:prstGeom>
          <a:noFill/>
          <a:ln/>
        </p:spPr>
        <p:txBody>
          <a:bodyPr wrap="square" lIns="0" tIns="0" rIns="0" bIns="0" rtlCol="0" anchor="t"/>
          <a:lstStyle/>
          <a:p>
            <a:pPr indent="0" marL="0">
              <a:buNone/>
            </a:pPr>
            <a:r>
              <a:rPr lang="en-US" sz="1400" dirty="0">
                <a:solidFill>
                  <a:schemeClr val="tx2"/>
                </a:solidFill>
              </a:rPr>
              <a:t>Main topics, outcomes, blockers and open questions in a few lines.</a:t>
            </a:r>
            <a:endParaRPr lang="en-US" sz="1400" dirty="0"/>
          </a:p>
        </p:txBody>
      </p:sp>
      <p:sp>
        <p:nvSpPr>
          <p:cNvPr id="8" name="Feature card 2"/>
          <p:cNvSpPr/>
          <p:nvPr/>
        </p:nvSpPr>
        <p:spPr>
          <a:xfrm>
            <a:off x="4335628" y="1508760"/>
            <a:ext cx="3520440" cy="2103120"/>
          </a:xfrm>
          <a:prstGeom prst="roundRect">
            <a:avLst>
              <a:gd name="adj" fmla="val 5217"/>
            </a:avLst>
          </a:prstGeom>
          <a:solidFill>
            <a:schemeClr val="bg2"/>
          </a:solidFill>
          <a:ln w="12700">
            <a:solidFill>
              <a:schemeClr val="bg2"/>
            </a:solidFill>
            <a:prstDash val="solid"/>
          </a:ln>
        </p:spPr>
      </p:sp>
      <p:sp>
        <p:nvSpPr>
          <p:cNvPr id="9" name="Feature 2 circle"/>
          <p:cNvSpPr/>
          <p:nvPr/>
        </p:nvSpPr>
        <p:spPr>
          <a:xfrm>
            <a:off x="4609948" y="1783080"/>
            <a:ext cx="640080" cy="640080"/>
          </a:xfrm>
          <a:prstGeom prst="ellipse">
            <a:avLst/>
          </a:prstGeom>
          <a:solidFill>
            <a:schemeClr val="accent1"/>
          </a:solidFill>
          <a:ln w="12700">
            <a:solidFill>
              <a:schemeClr val="accent1"/>
            </a:solidFill>
            <a:prstDash val="solid"/>
          </a:ln>
        </p:spPr>
      </p:sp>
      <p:pic>
        <p:nvPicPr>
          <p:cNvPr id="10" name="Feature 2 icon" descr="Feature 2">    </p:cNvPr>
          <p:cNvPicPr>
            <a:picLocks noChangeAspect="1"/>
          </p:cNvPicPr>
          <p:nvPr/>
        </p:nvPicPr>
        <p:blipFill>
          <a:blip r:embed="rId2"/>
          <a:stretch>
            <a:fillRect/>
          </a:stretch>
        </p:blipFill>
        <p:spPr>
          <a:xfrm>
            <a:off x="4782769" y="1955902"/>
            <a:ext cx="294437" cy="294437"/>
          </a:xfrm>
          <a:prstGeom prst="rect">
            <a:avLst/>
          </a:prstGeom>
        </p:spPr>
      </p:pic>
      <p:sp>
        <p:nvSpPr>
          <p:cNvPr id="11" name="Feature heading 2"/>
          <p:cNvSpPr txBox="1"/>
          <p:nvPr/>
        </p:nvSpPr>
        <p:spPr>
          <a:xfrm>
            <a:off x="4609948" y="2514600"/>
            <a:ext cx="2971800" cy="365760"/>
          </a:xfrm>
          <a:prstGeom prst="rect">
            <a:avLst/>
          </a:prstGeom>
          <a:noFill/>
          <a:ln/>
        </p:spPr>
        <p:txBody>
          <a:bodyPr wrap="square" lIns="0" tIns="0" rIns="0" bIns="0" rtlCol="0" anchor="t"/>
          <a:lstStyle/>
          <a:p>
            <a:pPr indent="0" marL="0">
              <a:buNone/>
            </a:pPr>
            <a:r>
              <a:rPr lang="en-US" sz="1900" b="1" dirty="0">
                <a:solidFill>
                  <a:schemeClr val="tx1"/>
                </a:solidFill>
              </a:rPr>
              <a:t>Decisions with evidence</a:t>
            </a:r>
            <a:endParaRPr lang="en-US" sz="1900" dirty="0"/>
          </a:p>
        </p:txBody>
      </p:sp>
      <p:sp>
        <p:nvSpPr>
          <p:cNvPr id="12" name="Feature body 2"/>
          <p:cNvSpPr txBox="1"/>
          <p:nvPr/>
        </p:nvSpPr>
        <p:spPr>
          <a:xfrm>
            <a:off x="4609948" y="2926080"/>
            <a:ext cx="2971800" cy="685800"/>
          </a:xfrm>
          <a:prstGeom prst="rect">
            <a:avLst/>
          </a:prstGeom>
          <a:noFill/>
          <a:ln/>
        </p:spPr>
        <p:txBody>
          <a:bodyPr wrap="square" lIns="0" tIns="0" rIns="0" bIns="0" rtlCol="0" anchor="t"/>
          <a:lstStyle/>
          <a:p>
            <a:pPr indent="0" marL="0">
              <a:buNone/>
            </a:pPr>
            <a:r>
              <a:rPr lang="en-US" sz="1400" dirty="0">
                <a:solidFill>
                  <a:schemeClr val="tx2"/>
                </a:solidFill>
              </a:rPr>
              <a:t>Only clear agreements, each with the sentence that proves it.</a:t>
            </a:r>
            <a:endParaRPr lang="en-US" sz="1400" dirty="0"/>
          </a:p>
        </p:txBody>
      </p:sp>
      <p:sp>
        <p:nvSpPr>
          <p:cNvPr id="13" name="Feature card 3"/>
          <p:cNvSpPr/>
          <p:nvPr/>
        </p:nvSpPr>
        <p:spPr>
          <a:xfrm>
            <a:off x="8122615" y="1508760"/>
            <a:ext cx="3520440" cy="2103120"/>
          </a:xfrm>
          <a:prstGeom prst="roundRect">
            <a:avLst>
              <a:gd name="adj" fmla="val 5217"/>
            </a:avLst>
          </a:prstGeom>
          <a:solidFill>
            <a:schemeClr val="bg2"/>
          </a:solidFill>
          <a:ln w="12700">
            <a:solidFill>
              <a:schemeClr val="bg2"/>
            </a:solidFill>
            <a:prstDash val="solid"/>
          </a:ln>
        </p:spPr>
      </p:sp>
      <p:sp>
        <p:nvSpPr>
          <p:cNvPr id="14" name="Feature 3 circle"/>
          <p:cNvSpPr/>
          <p:nvPr/>
        </p:nvSpPr>
        <p:spPr>
          <a:xfrm>
            <a:off x="8396935" y="1783080"/>
            <a:ext cx="640080" cy="640080"/>
          </a:xfrm>
          <a:prstGeom prst="ellipse">
            <a:avLst/>
          </a:prstGeom>
          <a:solidFill>
            <a:schemeClr val="accent1"/>
          </a:solidFill>
          <a:ln w="12700">
            <a:solidFill>
              <a:schemeClr val="accent1"/>
            </a:solidFill>
            <a:prstDash val="solid"/>
          </a:ln>
        </p:spPr>
      </p:sp>
      <p:pic>
        <p:nvPicPr>
          <p:cNvPr id="15" name="Feature 3 icon" descr="Feature 3">    </p:cNvPr>
          <p:cNvPicPr>
            <a:picLocks noChangeAspect="1"/>
          </p:cNvPicPr>
          <p:nvPr/>
        </p:nvPicPr>
        <p:blipFill>
          <a:blip r:embed="rId3"/>
          <a:stretch>
            <a:fillRect/>
          </a:stretch>
        </p:blipFill>
        <p:spPr>
          <a:xfrm>
            <a:off x="8569757" y="1955902"/>
            <a:ext cx="294437" cy="294437"/>
          </a:xfrm>
          <a:prstGeom prst="rect">
            <a:avLst/>
          </a:prstGeom>
        </p:spPr>
      </p:pic>
      <p:sp>
        <p:nvSpPr>
          <p:cNvPr id="16" name="Feature heading 3"/>
          <p:cNvSpPr txBox="1"/>
          <p:nvPr/>
        </p:nvSpPr>
        <p:spPr>
          <a:xfrm>
            <a:off x="8396935" y="2514600"/>
            <a:ext cx="2971800" cy="365760"/>
          </a:xfrm>
          <a:prstGeom prst="rect">
            <a:avLst/>
          </a:prstGeom>
          <a:noFill/>
          <a:ln/>
        </p:spPr>
        <p:txBody>
          <a:bodyPr wrap="square" lIns="0" tIns="0" rIns="0" bIns="0" rtlCol="0" anchor="t"/>
          <a:lstStyle/>
          <a:p>
            <a:pPr indent="0" marL="0">
              <a:buNone/>
            </a:pPr>
            <a:r>
              <a:rPr lang="en-US" sz="1900" b="1" dirty="0">
                <a:solidFill>
                  <a:schemeClr val="tx1"/>
                </a:solidFill>
              </a:rPr>
              <a:t>Action items</a:t>
            </a:r>
            <a:endParaRPr lang="en-US" sz="1900" dirty="0"/>
          </a:p>
        </p:txBody>
      </p:sp>
      <p:sp>
        <p:nvSpPr>
          <p:cNvPr id="17" name="Feature body 3"/>
          <p:cNvSpPr txBox="1"/>
          <p:nvPr/>
        </p:nvSpPr>
        <p:spPr>
          <a:xfrm>
            <a:off x="8396935" y="2926080"/>
            <a:ext cx="2971800" cy="685800"/>
          </a:xfrm>
          <a:prstGeom prst="rect">
            <a:avLst/>
          </a:prstGeom>
          <a:noFill/>
          <a:ln/>
        </p:spPr>
        <p:txBody>
          <a:bodyPr wrap="square" lIns="0" tIns="0" rIns="0" bIns="0" rtlCol="0" anchor="t"/>
          <a:lstStyle/>
          <a:p>
            <a:pPr indent="0" marL="0">
              <a:buNone/>
            </a:pPr>
            <a:r>
              <a:rPr lang="en-US" sz="1400" dirty="0">
                <a:solidFill>
                  <a:schemeClr val="tx2"/>
                </a:solidFill>
              </a:rPr>
              <a:t>Owner, deadline, priority and source quote for every task.</a:t>
            </a:r>
            <a:endParaRPr lang="en-US" sz="1400" dirty="0"/>
          </a:p>
        </p:txBody>
      </p:sp>
      <p:sp>
        <p:nvSpPr>
          <p:cNvPr id="18" name="Feature card 4"/>
          <p:cNvSpPr/>
          <p:nvPr/>
        </p:nvSpPr>
        <p:spPr>
          <a:xfrm>
            <a:off x="548640" y="3886200"/>
            <a:ext cx="3520440" cy="2103120"/>
          </a:xfrm>
          <a:prstGeom prst="roundRect">
            <a:avLst>
              <a:gd name="adj" fmla="val 5217"/>
            </a:avLst>
          </a:prstGeom>
          <a:solidFill>
            <a:schemeClr val="bg2"/>
          </a:solidFill>
          <a:ln w="12700">
            <a:solidFill>
              <a:schemeClr val="bg2"/>
            </a:solidFill>
            <a:prstDash val="solid"/>
          </a:ln>
        </p:spPr>
      </p:sp>
      <p:sp>
        <p:nvSpPr>
          <p:cNvPr id="19" name="Feature 4 circle"/>
          <p:cNvSpPr/>
          <p:nvPr/>
        </p:nvSpPr>
        <p:spPr>
          <a:xfrm>
            <a:off x="822960" y="4160520"/>
            <a:ext cx="640080" cy="640080"/>
          </a:xfrm>
          <a:prstGeom prst="ellipse">
            <a:avLst/>
          </a:prstGeom>
          <a:solidFill>
            <a:schemeClr val="accent2"/>
          </a:solidFill>
          <a:ln w="12700">
            <a:solidFill>
              <a:schemeClr val="accent2"/>
            </a:solidFill>
            <a:prstDash val="solid"/>
          </a:ln>
        </p:spPr>
      </p:sp>
      <p:pic>
        <p:nvPicPr>
          <p:cNvPr id="20" name="Feature 4 icon" descr="Feature 4">    </p:cNvPr>
          <p:cNvPicPr>
            <a:picLocks noChangeAspect="1"/>
          </p:cNvPicPr>
          <p:nvPr/>
        </p:nvPicPr>
        <p:blipFill>
          <a:blip r:embed="rId4"/>
          <a:stretch>
            <a:fillRect/>
          </a:stretch>
        </p:blipFill>
        <p:spPr>
          <a:xfrm>
            <a:off x="995782" y="4333342"/>
            <a:ext cx="294437" cy="294437"/>
          </a:xfrm>
          <a:prstGeom prst="rect">
            <a:avLst/>
          </a:prstGeom>
        </p:spPr>
      </p:pic>
      <p:sp>
        <p:nvSpPr>
          <p:cNvPr id="21" name="Feature heading 4"/>
          <p:cNvSpPr txBox="1"/>
          <p:nvPr/>
        </p:nvSpPr>
        <p:spPr>
          <a:xfrm>
            <a:off x="822960" y="4892040"/>
            <a:ext cx="2971800" cy="365760"/>
          </a:xfrm>
          <a:prstGeom prst="rect">
            <a:avLst/>
          </a:prstGeom>
          <a:noFill/>
          <a:ln/>
        </p:spPr>
        <p:txBody>
          <a:bodyPr wrap="square" lIns="0" tIns="0" rIns="0" bIns="0" rtlCol="0" anchor="t"/>
          <a:lstStyle/>
          <a:p>
            <a:pPr indent="0" marL="0">
              <a:buNone/>
            </a:pPr>
            <a:r>
              <a:rPr lang="en-US" sz="1900" b="1" dirty="0">
                <a:solidFill>
                  <a:schemeClr val="tx1"/>
                </a:solidFill>
              </a:rPr>
              <a:t>Missing-information flags</a:t>
            </a:r>
            <a:endParaRPr lang="en-US" sz="1900" dirty="0"/>
          </a:p>
        </p:txBody>
      </p:sp>
      <p:sp>
        <p:nvSpPr>
          <p:cNvPr id="22" name="Feature body 4"/>
          <p:cNvSpPr txBox="1"/>
          <p:nvPr/>
        </p:nvSpPr>
        <p:spPr>
          <a:xfrm>
            <a:off x="822960" y="5303520"/>
            <a:ext cx="2971800" cy="685800"/>
          </a:xfrm>
          <a:prstGeom prst="rect">
            <a:avLst/>
          </a:prstGeom>
          <a:noFill/>
          <a:ln/>
        </p:spPr>
        <p:txBody>
          <a:bodyPr wrap="square" lIns="0" tIns="0" rIns="0" bIns="0" rtlCol="0" anchor="t"/>
          <a:lstStyle/>
          <a:p>
            <a:pPr indent="0" marL="0">
              <a:buNone/>
            </a:pPr>
            <a:r>
              <a:rPr lang="en-US" sz="1400" dirty="0">
                <a:solidFill>
                  <a:schemeClr val="tx2"/>
                </a:solidFill>
              </a:rPr>
              <a:t>Unassigned owners and unclear deadlines are called out for review.</a:t>
            </a:r>
            <a:endParaRPr lang="en-US" sz="1400" dirty="0"/>
          </a:p>
        </p:txBody>
      </p:sp>
      <p:sp>
        <p:nvSpPr>
          <p:cNvPr id="23" name="Feature card 5"/>
          <p:cNvSpPr/>
          <p:nvPr/>
        </p:nvSpPr>
        <p:spPr>
          <a:xfrm>
            <a:off x="4335628" y="3886200"/>
            <a:ext cx="3520440" cy="2103120"/>
          </a:xfrm>
          <a:prstGeom prst="roundRect">
            <a:avLst>
              <a:gd name="adj" fmla="val 5217"/>
            </a:avLst>
          </a:prstGeom>
          <a:solidFill>
            <a:schemeClr val="bg2"/>
          </a:solidFill>
          <a:ln w="12700">
            <a:solidFill>
              <a:schemeClr val="bg2"/>
            </a:solidFill>
            <a:prstDash val="solid"/>
          </a:ln>
        </p:spPr>
      </p:sp>
      <p:sp>
        <p:nvSpPr>
          <p:cNvPr id="24" name="Feature 5 circle"/>
          <p:cNvSpPr/>
          <p:nvPr/>
        </p:nvSpPr>
        <p:spPr>
          <a:xfrm>
            <a:off x="4609948" y="4160520"/>
            <a:ext cx="640080" cy="640080"/>
          </a:xfrm>
          <a:prstGeom prst="ellipse">
            <a:avLst/>
          </a:prstGeom>
          <a:solidFill>
            <a:schemeClr val="accent1"/>
          </a:solidFill>
          <a:ln w="12700">
            <a:solidFill>
              <a:schemeClr val="accent1"/>
            </a:solidFill>
            <a:prstDash val="solid"/>
          </a:ln>
        </p:spPr>
      </p:sp>
      <p:pic>
        <p:nvPicPr>
          <p:cNvPr id="25" name="Feature 5 icon" descr="Feature 5">    </p:cNvPr>
          <p:cNvPicPr>
            <a:picLocks noChangeAspect="1"/>
          </p:cNvPicPr>
          <p:nvPr/>
        </p:nvPicPr>
        <p:blipFill>
          <a:blip r:embed="rId5"/>
          <a:stretch>
            <a:fillRect/>
          </a:stretch>
        </p:blipFill>
        <p:spPr>
          <a:xfrm>
            <a:off x="4782769" y="4333342"/>
            <a:ext cx="294437" cy="294437"/>
          </a:xfrm>
          <a:prstGeom prst="rect">
            <a:avLst/>
          </a:prstGeom>
        </p:spPr>
      </p:pic>
      <p:sp>
        <p:nvSpPr>
          <p:cNvPr id="26" name="Feature heading 5"/>
          <p:cNvSpPr txBox="1"/>
          <p:nvPr/>
        </p:nvSpPr>
        <p:spPr>
          <a:xfrm>
            <a:off x="4609948" y="4892040"/>
            <a:ext cx="2971800" cy="365760"/>
          </a:xfrm>
          <a:prstGeom prst="rect">
            <a:avLst/>
          </a:prstGeom>
          <a:noFill/>
          <a:ln/>
        </p:spPr>
        <p:txBody>
          <a:bodyPr wrap="square" lIns="0" tIns="0" rIns="0" bIns="0" rtlCol="0" anchor="t"/>
          <a:lstStyle/>
          <a:p>
            <a:pPr indent="0" marL="0">
              <a:buNone/>
            </a:pPr>
            <a:r>
              <a:rPr lang="en-US" sz="1900" b="1" dirty="0">
                <a:solidFill>
                  <a:schemeClr val="tx1"/>
                </a:solidFill>
              </a:rPr>
              <a:t>Kanban board</a:t>
            </a:r>
            <a:endParaRPr lang="en-US" sz="1900" dirty="0"/>
          </a:p>
        </p:txBody>
      </p:sp>
      <p:sp>
        <p:nvSpPr>
          <p:cNvPr id="27" name="Feature body 5"/>
          <p:cNvSpPr txBox="1"/>
          <p:nvPr/>
        </p:nvSpPr>
        <p:spPr>
          <a:xfrm>
            <a:off x="4609948" y="5303520"/>
            <a:ext cx="2971800" cy="685800"/>
          </a:xfrm>
          <a:prstGeom prst="rect">
            <a:avLst/>
          </a:prstGeom>
          <a:noFill/>
          <a:ln/>
        </p:spPr>
        <p:txBody>
          <a:bodyPr wrap="square" lIns="0" tIns="0" rIns="0" bIns="0" rtlCol="0" anchor="t"/>
          <a:lstStyle/>
          <a:p>
            <a:pPr indent="0" marL="0">
              <a:buNone/>
            </a:pPr>
            <a:r>
              <a:rPr lang="en-US" sz="1400" dirty="0">
                <a:solidFill>
                  <a:schemeClr val="tx2"/>
                </a:solidFill>
              </a:rPr>
              <a:t>Open, In Progress, Hold and Completed, with overdue alerts.</a:t>
            </a:r>
            <a:endParaRPr lang="en-US" sz="1400" dirty="0"/>
          </a:p>
        </p:txBody>
      </p:sp>
      <p:sp>
        <p:nvSpPr>
          <p:cNvPr id="28" name="Feature card 6"/>
          <p:cNvSpPr/>
          <p:nvPr/>
        </p:nvSpPr>
        <p:spPr>
          <a:xfrm>
            <a:off x="8122615" y="3886200"/>
            <a:ext cx="3520440" cy="2103120"/>
          </a:xfrm>
          <a:prstGeom prst="roundRect">
            <a:avLst>
              <a:gd name="adj" fmla="val 5217"/>
            </a:avLst>
          </a:prstGeom>
          <a:solidFill>
            <a:schemeClr val="bg2"/>
          </a:solidFill>
          <a:ln w="12700">
            <a:solidFill>
              <a:schemeClr val="bg2"/>
            </a:solidFill>
            <a:prstDash val="solid"/>
          </a:ln>
        </p:spPr>
      </p:sp>
      <p:sp>
        <p:nvSpPr>
          <p:cNvPr id="29" name="Feature 6 circle"/>
          <p:cNvSpPr/>
          <p:nvPr/>
        </p:nvSpPr>
        <p:spPr>
          <a:xfrm>
            <a:off x="8396935" y="4160520"/>
            <a:ext cx="640080" cy="640080"/>
          </a:xfrm>
          <a:prstGeom prst="ellipse">
            <a:avLst/>
          </a:prstGeom>
          <a:solidFill>
            <a:schemeClr val="accent1"/>
          </a:solidFill>
          <a:ln w="12700">
            <a:solidFill>
              <a:schemeClr val="accent1"/>
            </a:solidFill>
            <a:prstDash val="solid"/>
          </a:ln>
        </p:spPr>
      </p:sp>
      <p:pic>
        <p:nvPicPr>
          <p:cNvPr id="30" name="Feature 6 icon" descr="Feature 6">    </p:cNvPr>
          <p:cNvPicPr>
            <a:picLocks noChangeAspect="1"/>
          </p:cNvPicPr>
          <p:nvPr/>
        </p:nvPicPr>
        <p:blipFill>
          <a:blip r:embed="rId6"/>
          <a:stretch>
            <a:fillRect/>
          </a:stretch>
        </p:blipFill>
        <p:spPr>
          <a:xfrm>
            <a:off x="8569757" y="4333342"/>
            <a:ext cx="294437" cy="294437"/>
          </a:xfrm>
          <a:prstGeom prst="rect">
            <a:avLst/>
          </a:prstGeom>
        </p:spPr>
      </p:pic>
      <p:sp>
        <p:nvSpPr>
          <p:cNvPr id="31" name="Feature heading 6"/>
          <p:cNvSpPr txBox="1"/>
          <p:nvPr/>
        </p:nvSpPr>
        <p:spPr>
          <a:xfrm>
            <a:off x="8396935" y="4892040"/>
            <a:ext cx="2971800" cy="365760"/>
          </a:xfrm>
          <a:prstGeom prst="rect">
            <a:avLst/>
          </a:prstGeom>
          <a:noFill/>
          <a:ln/>
        </p:spPr>
        <p:txBody>
          <a:bodyPr wrap="square" lIns="0" tIns="0" rIns="0" bIns="0" rtlCol="0" anchor="t"/>
          <a:lstStyle/>
          <a:p>
            <a:pPr indent="0" marL="0">
              <a:buNone/>
            </a:pPr>
            <a:r>
              <a:rPr lang="en-US" sz="1900" b="1" dirty="0">
                <a:solidFill>
                  <a:schemeClr val="tx1"/>
                </a:solidFill>
              </a:rPr>
              <a:t>Progress dashboard</a:t>
            </a:r>
            <a:endParaRPr lang="en-US" sz="1900" dirty="0"/>
          </a:p>
        </p:txBody>
      </p:sp>
      <p:sp>
        <p:nvSpPr>
          <p:cNvPr id="32" name="Feature body 6"/>
          <p:cNvSpPr txBox="1"/>
          <p:nvPr/>
        </p:nvSpPr>
        <p:spPr>
          <a:xfrm>
            <a:off x="8396935" y="5303520"/>
            <a:ext cx="2971800" cy="685800"/>
          </a:xfrm>
          <a:prstGeom prst="rect">
            <a:avLst/>
          </a:prstGeom>
          <a:noFill/>
          <a:ln/>
        </p:spPr>
        <p:txBody>
          <a:bodyPr wrap="square" lIns="0" tIns="0" rIns="0" bIns="0" rtlCol="0" anchor="t"/>
          <a:lstStyle/>
          <a:p>
            <a:pPr indent="0" marL="0">
              <a:buNone/>
            </a:pPr>
            <a:r>
              <a:rPr lang="en-US" sz="1400" dirty="0">
                <a:solidFill>
                  <a:schemeClr val="tx2"/>
                </a:solidFill>
              </a:rPr>
              <a:t>Overdue work, ownership and completion rate, filterable.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How it works under the hood</a:t>
            </a:r>
            <a:endParaRPr lang="en-US" sz="3400" dirty="0"/>
          </a:p>
        </p:txBody>
      </p:sp>
      <p:sp>
        <p:nvSpPr>
          <p:cNvPr id="3" name="Browser box"/>
          <p:cNvSpPr/>
          <p:nvPr/>
        </p:nvSpPr>
        <p:spPr>
          <a:xfrm>
            <a:off x="548640" y="1554480"/>
            <a:ext cx="3566160" cy="3474720"/>
          </a:xfrm>
          <a:prstGeom prst="roundRect">
            <a:avLst>
              <a:gd name="adj" fmla="val 3158"/>
            </a:avLst>
          </a:prstGeom>
          <a:solidFill>
            <a:schemeClr val="bg2"/>
          </a:solidFill>
          <a:ln w="12700">
            <a:solidFill>
              <a:schemeClr val="bg2"/>
            </a:solidFill>
            <a:prstDash val="solid"/>
          </a:ln>
        </p:spPr>
      </p:sp>
      <p:sp>
        <p:nvSpPr>
          <p:cNvPr id="4" name="Browser title"/>
          <p:cNvSpPr txBox="1"/>
          <p:nvPr/>
        </p:nvSpPr>
        <p:spPr>
          <a:xfrm>
            <a:off x="822960" y="1737360"/>
            <a:ext cx="3017520" cy="411480"/>
          </a:xfrm>
          <a:prstGeom prst="rect">
            <a:avLst/>
          </a:prstGeom>
          <a:noFill/>
          <a:ln/>
        </p:spPr>
        <p:txBody>
          <a:bodyPr wrap="square" lIns="0" tIns="0" rIns="0" bIns="0" rtlCol="0" anchor="t"/>
          <a:lstStyle/>
          <a:p>
            <a:pPr indent="0" marL="0">
              <a:buNone/>
            </a:pPr>
            <a:r>
              <a:rPr lang="en-US" sz="2200" b="1" dirty="0">
                <a:solidFill>
                  <a:schemeClr val="tx1"/>
                </a:solidFill>
              </a:rPr>
              <a:t>Browser</a:t>
            </a:r>
            <a:endParaRPr lang="en-US" sz="2200" dirty="0"/>
          </a:p>
        </p:txBody>
      </p:sp>
      <p:sp>
        <p:nvSpPr>
          <p:cNvPr id="5" name="Browser subtitle"/>
          <p:cNvSpPr txBox="1"/>
          <p:nvPr/>
        </p:nvSpPr>
        <p:spPr>
          <a:xfrm>
            <a:off x="822960" y="2194560"/>
            <a:ext cx="3017520" cy="320040"/>
          </a:xfrm>
          <a:prstGeom prst="rect">
            <a:avLst/>
          </a:prstGeom>
          <a:noFill/>
          <a:ln/>
        </p:spPr>
        <p:txBody>
          <a:bodyPr wrap="square" lIns="0" tIns="0" rIns="0" bIns="0" rtlCol="0" anchor="t"/>
          <a:lstStyle/>
          <a:p>
            <a:pPr indent="0" marL="0">
              <a:buNone/>
            </a:pPr>
            <a:r>
              <a:rPr lang="en-US" sz="1400" dirty="0">
                <a:solidFill>
                  <a:schemeClr val="tx2"/>
                </a:solidFill>
              </a:rPr>
              <a:t>HTML · CSS · JavaScript</a:t>
            </a:r>
            <a:endParaRPr lang="en-US" sz="1400" dirty="0"/>
          </a:p>
        </p:txBody>
      </p:sp>
      <p:sp>
        <p:nvSpPr>
          <p:cNvPr id="6" name="Browser pill 1"/>
          <p:cNvSpPr/>
          <p:nvPr/>
        </p:nvSpPr>
        <p:spPr>
          <a:xfrm>
            <a:off x="822960" y="2743200"/>
            <a:ext cx="3017520" cy="429768"/>
          </a:xfrm>
          <a:prstGeom prst="roundRect">
            <a:avLst>
              <a:gd name="adj" fmla="val 21277"/>
            </a:avLst>
          </a:prstGeom>
          <a:solidFill>
            <a:schemeClr val="bg1"/>
          </a:solidFill>
          <a:ln w="12700">
            <a:solidFill>
              <a:schemeClr val="bg1"/>
            </a:solidFill>
            <a:prstDash val="solid"/>
          </a:ln>
        </p:spPr>
      </p:sp>
      <p:sp>
        <p:nvSpPr>
          <p:cNvPr id="7" name="Browser pill text 1"/>
          <p:cNvSpPr txBox="1"/>
          <p:nvPr/>
        </p:nvSpPr>
        <p:spPr>
          <a:xfrm>
            <a:off x="960120" y="2743200"/>
            <a:ext cx="2743200" cy="429768"/>
          </a:xfrm>
          <a:prstGeom prst="rect">
            <a:avLst/>
          </a:prstGeom>
          <a:noFill/>
          <a:ln/>
        </p:spPr>
        <p:txBody>
          <a:bodyPr wrap="square" lIns="0" tIns="0" rIns="0" bIns="0" rtlCol="0" anchor="ctr"/>
          <a:lstStyle/>
          <a:p>
            <a:pPr indent="0" marL="0">
              <a:buNone/>
            </a:pPr>
            <a:r>
              <a:rPr lang="en-US" sz="1500" dirty="0">
                <a:solidFill>
                  <a:schemeClr val="tx1"/>
                </a:solidFill>
              </a:rPr>
              <a:t>Meetings and review</a:t>
            </a:r>
            <a:endParaRPr lang="en-US" sz="1500" dirty="0"/>
          </a:p>
        </p:txBody>
      </p:sp>
      <p:sp>
        <p:nvSpPr>
          <p:cNvPr id="8" name="Browser pill 2"/>
          <p:cNvSpPr/>
          <p:nvPr/>
        </p:nvSpPr>
        <p:spPr>
          <a:xfrm>
            <a:off x="822960" y="3264408"/>
            <a:ext cx="3017520" cy="429768"/>
          </a:xfrm>
          <a:prstGeom prst="roundRect">
            <a:avLst>
              <a:gd name="adj" fmla="val 21277"/>
            </a:avLst>
          </a:prstGeom>
          <a:solidFill>
            <a:schemeClr val="bg1"/>
          </a:solidFill>
          <a:ln w="12700">
            <a:solidFill>
              <a:schemeClr val="bg1"/>
            </a:solidFill>
            <a:prstDash val="solid"/>
          </a:ln>
        </p:spPr>
      </p:sp>
      <p:sp>
        <p:nvSpPr>
          <p:cNvPr id="9" name="Browser pill text 2"/>
          <p:cNvSpPr txBox="1"/>
          <p:nvPr/>
        </p:nvSpPr>
        <p:spPr>
          <a:xfrm>
            <a:off x="960120" y="3264408"/>
            <a:ext cx="2743200" cy="429768"/>
          </a:xfrm>
          <a:prstGeom prst="rect">
            <a:avLst/>
          </a:prstGeom>
          <a:noFill/>
          <a:ln/>
        </p:spPr>
        <p:txBody>
          <a:bodyPr wrap="square" lIns="0" tIns="0" rIns="0" bIns="0" rtlCol="0" anchor="ctr"/>
          <a:lstStyle/>
          <a:p>
            <a:pPr indent="0" marL="0">
              <a:buNone/>
            </a:pPr>
            <a:r>
              <a:rPr lang="en-US" sz="1500" dirty="0">
                <a:solidFill>
                  <a:schemeClr val="tx1"/>
                </a:solidFill>
              </a:rPr>
              <a:t>Kanban board</a:t>
            </a:r>
            <a:endParaRPr lang="en-US" sz="1500" dirty="0"/>
          </a:p>
        </p:txBody>
      </p:sp>
      <p:sp>
        <p:nvSpPr>
          <p:cNvPr id="10" name="Browser pill 3"/>
          <p:cNvSpPr/>
          <p:nvPr/>
        </p:nvSpPr>
        <p:spPr>
          <a:xfrm>
            <a:off x="822960" y="3785616"/>
            <a:ext cx="3017520" cy="429768"/>
          </a:xfrm>
          <a:prstGeom prst="roundRect">
            <a:avLst>
              <a:gd name="adj" fmla="val 21277"/>
            </a:avLst>
          </a:prstGeom>
          <a:solidFill>
            <a:schemeClr val="bg1"/>
          </a:solidFill>
          <a:ln w="12700">
            <a:solidFill>
              <a:schemeClr val="bg1"/>
            </a:solidFill>
            <a:prstDash val="solid"/>
          </a:ln>
        </p:spPr>
      </p:sp>
      <p:sp>
        <p:nvSpPr>
          <p:cNvPr id="11" name="Browser pill text 3"/>
          <p:cNvSpPr txBox="1"/>
          <p:nvPr/>
        </p:nvSpPr>
        <p:spPr>
          <a:xfrm>
            <a:off x="960120" y="3785616"/>
            <a:ext cx="2743200" cy="429768"/>
          </a:xfrm>
          <a:prstGeom prst="rect">
            <a:avLst/>
          </a:prstGeom>
          <a:noFill/>
          <a:ln/>
        </p:spPr>
        <p:txBody>
          <a:bodyPr wrap="square" lIns="0" tIns="0" rIns="0" bIns="0" rtlCol="0" anchor="ctr"/>
          <a:lstStyle/>
          <a:p>
            <a:pPr indent="0" marL="0">
              <a:buNone/>
            </a:pPr>
            <a:r>
              <a:rPr lang="en-US" sz="1500" dirty="0">
                <a:solidFill>
                  <a:schemeClr val="tx1"/>
                </a:solidFill>
              </a:rPr>
              <a:t>Dashboard</a:t>
            </a:r>
            <a:endParaRPr lang="en-US" sz="1500" dirty="0"/>
          </a:p>
        </p:txBody>
      </p:sp>
      <p:sp>
        <p:nvSpPr>
          <p:cNvPr id="12" name="Browser pill 4"/>
          <p:cNvSpPr/>
          <p:nvPr/>
        </p:nvSpPr>
        <p:spPr>
          <a:xfrm>
            <a:off x="822960" y="4306824"/>
            <a:ext cx="3017520" cy="429768"/>
          </a:xfrm>
          <a:prstGeom prst="roundRect">
            <a:avLst>
              <a:gd name="adj" fmla="val 21277"/>
            </a:avLst>
          </a:prstGeom>
          <a:solidFill>
            <a:schemeClr val="bg1"/>
          </a:solidFill>
          <a:ln w="19050">
            <a:solidFill>
              <a:schemeClr val="accent2"/>
            </a:solidFill>
            <a:prstDash val="solid"/>
          </a:ln>
        </p:spPr>
      </p:sp>
      <p:sp>
        <p:nvSpPr>
          <p:cNvPr id="13" name="Browser pill text 4"/>
          <p:cNvSpPr txBox="1"/>
          <p:nvPr/>
        </p:nvSpPr>
        <p:spPr>
          <a:xfrm>
            <a:off x="960120" y="4306824"/>
            <a:ext cx="2743200" cy="429768"/>
          </a:xfrm>
          <a:prstGeom prst="rect">
            <a:avLst/>
          </a:prstGeom>
          <a:noFill/>
          <a:ln/>
        </p:spPr>
        <p:txBody>
          <a:bodyPr wrap="square" lIns="0" tIns="0" rIns="0" bIns="0" rtlCol="0" anchor="ctr"/>
          <a:lstStyle/>
          <a:p>
            <a:pPr indent="0" marL="0">
              <a:buNone/>
            </a:pPr>
            <a:r>
              <a:rPr lang="en-US" sz="1500" dirty="0">
                <a:solidFill>
                  <a:schemeClr val="tx1"/>
                </a:solidFill>
              </a:rPr>
              <a:t>localStorage (your data)</a:t>
            </a:r>
            <a:endParaRPr lang="en-US" sz="1500" dirty="0"/>
          </a:p>
        </p:txBody>
      </p:sp>
      <p:sp>
        <p:nvSpPr>
          <p:cNvPr id="14" name="Python backend box"/>
          <p:cNvSpPr/>
          <p:nvPr/>
        </p:nvSpPr>
        <p:spPr>
          <a:xfrm>
            <a:off x="5029200" y="1554480"/>
            <a:ext cx="3383280" cy="3474720"/>
          </a:xfrm>
          <a:prstGeom prst="roundRect">
            <a:avLst>
              <a:gd name="adj" fmla="val 3243"/>
            </a:avLst>
          </a:prstGeom>
          <a:solidFill>
            <a:schemeClr val="bg2"/>
          </a:solidFill>
          <a:ln w="12700">
            <a:solidFill>
              <a:schemeClr val="bg2"/>
            </a:solidFill>
            <a:prstDash val="solid"/>
          </a:ln>
        </p:spPr>
      </p:sp>
      <p:sp>
        <p:nvSpPr>
          <p:cNvPr id="15" name="Python backend title"/>
          <p:cNvSpPr txBox="1"/>
          <p:nvPr/>
        </p:nvSpPr>
        <p:spPr>
          <a:xfrm>
            <a:off x="5303520" y="1737360"/>
            <a:ext cx="2834640" cy="411480"/>
          </a:xfrm>
          <a:prstGeom prst="rect">
            <a:avLst/>
          </a:prstGeom>
          <a:noFill/>
          <a:ln/>
        </p:spPr>
        <p:txBody>
          <a:bodyPr wrap="square" lIns="0" tIns="0" rIns="0" bIns="0" rtlCol="0" anchor="t"/>
          <a:lstStyle/>
          <a:p>
            <a:pPr indent="0" marL="0">
              <a:buNone/>
            </a:pPr>
            <a:r>
              <a:rPr lang="en-US" sz="2200" b="1" dirty="0">
                <a:solidFill>
                  <a:schemeClr val="tx1"/>
                </a:solidFill>
              </a:rPr>
              <a:t>Python backend</a:t>
            </a:r>
            <a:endParaRPr lang="en-US" sz="2200" dirty="0"/>
          </a:p>
        </p:txBody>
      </p:sp>
      <p:sp>
        <p:nvSpPr>
          <p:cNvPr id="16" name="Python backend subtitle"/>
          <p:cNvSpPr txBox="1"/>
          <p:nvPr/>
        </p:nvSpPr>
        <p:spPr>
          <a:xfrm>
            <a:off x="5303520" y="2194560"/>
            <a:ext cx="2834640" cy="320040"/>
          </a:xfrm>
          <a:prstGeom prst="rect">
            <a:avLst/>
          </a:prstGeom>
          <a:noFill/>
          <a:ln/>
        </p:spPr>
        <p:txBody>
          <a:bodyPr wrap="square" lIns="0" tIns="0" rIns="0" bIns="0" rtlCol="0" anchor="t"/>
          <a:lstStyle/>
          <a:p>
            <a:pPr indent="0" marL="0">
              <a:buNone/>
            </a:pPr>
            <a:r>
              <a:rPr lang="en-US" sz="1400" dirty="0">
                <a:solidFill>
                  <a:schemeClr val="tx2"/>
                </a:solidFill>
              </a:rPr>
              <a:t>FastAPI · stateless</a:t>
            </a:r>
            <a:endParaRPr lang="en-US" sz="1400" dirty="0"/>
          </a:p>
        </p:txBody>
      </p:sp>
      <p:sp>
        <p:nvSpPr>
          <p:cNvPr id="17" name="Python backend pill 1"/>
          <p:cNvSpPr/>
          <p:nvPr/>
        </p:nvSpPr>
        <p:spPr>
          <a:xfrm>
            <a:off x="5303520" y="2743200"/>
            <a:ext cx="2834640" cy="429768"/>
          </a:xfrm>
          <a:prstGeom prst="roundRect">
            <a:avLst>
              <a:gd name="adj" fmla="val 21277"/>
            </a:avLst>
          </a:prstGeom>
          <a:solidFill>
            <a:schemeClr val="bg1"/>
          </a:solidFill>
          <a:ln w="12700">
            <a:solidFill>
              <a:schemeClr val="bg1"/>
            </a:solidFill>
            <a:prstDash val="solid"/>
          </a:ln>
        </p:spPr>
      </p:sp>
      <p:sp>
        <p:nvSpPr>
          <p:cNvPr id="18" name="Python backend pill text 1"/>
          <p:cNvSpPr txBox="1"/>
          <p:nvPr/>
        </p:nvSpPr>
        <p:spPr>
          <a:xfrm>
            <a:off x="5440680" y="2743200"/>
            <a:ext cx="2560320" cy="429768"/>
          </a:xfrm>
          <a:prstGeom prst="rect">
            <a:avLst/>
          </a:prstGeom>
          <a:noFill/>
          <a:ln/>
        </p:spPr>
        <p:txBody>
          <a:bodyPr wrap="square" lIns="0" tIns="0" rIns="0" bIns="0" rtlCol="0" anchor="ctr"/>
          <a:lstStyle/>
          <a:p>
            <a:pPr indent="0" marL="0">
              <a:buNone/>
            </a:pPr>
            <a:r>
              <a:rPr lang="en-US" sz="1500" dirty="0">
                <a:solidFill>
                  <a:schemeClr val="tx1"/>
                </a:solidFill>
              </a:rPr>
              <a:t>Size and format checks</a:t>
            </a:r>
            <a:endParaRPr lang="en-US" sz="1500" dirty="0"/>
          </a:p>
        </p:txBody>
      </p:sp>
      <p:sp>
        <p:nvSpPr>
          <p:cNvPr id="19" name="Python backend pill 2"/>
          <p:cNvSpPr/>
          <p:nvPr/>
        </p:nvSpPr>
        <p:spPr>
          <a:xfrm>
            <a:off x="5303520" y="3264408"/>
            <a:ext cx="2834640" cy="429768"/>
          </a:xfrm>
          <a:prstGeom prst="roundRect">
            <a:avLst>
              <a:gd name="adj" fmla="val 21277"/>
            </a:avLst>
          </a:prstGeom>
          <a:solidFill>
            <a:schemeClr val="bg1"/>
          </a:solidFill>
          <a:ln w="12700">
            <a:solidFill>
              <a:schemeClr val="bg1"/>
            </a:solidFill>
            <a:prstDash val="solid"/>
          </a:ln>
        </p:spPr>
      </p:sp>
      <p:sp>
        <p:nvSpPr>
          <p:cNvPr id="20" name="Python backend pill text 2"/>
          <p:cNvSpPr txBox="1"/>
          <p:nvPr/>
        </p:nvSpPr>
        <p:spPr>
          <a:xfrm>
            <a:off x="5440680" y="3264408"/>
            <a:ext cx="2560320" cy="429768"/>
          </a:xfrm>
          <a:prstGeom prst="rect">
            <a:avLst/>
          </a:prstGeom>
          <a:noFill/>
          <a:ln/>
        </p:spPr>
        <p:txBody>
          <a:bodyPr wrap="square" lIns="0" tIns="0" rIns="0" bIns="0" rtlCol="0" anchor="ctr"/>
          <a:lstStyle/>
          <a:p>
            <a:pPr indent="0" marL="0">
              <a:buNone/>
            </a:pPr>
            <a:r>
              <a:rPr lang="en-US" sz="1500" dirty="0">
                <a:solidFill>
                  <a:schemeClr val="tx1"/>
                </a:solidFill>
              </a:rPr>
              <a:t>Schema validation</a:t>
            </a:r>
            <a:endParaRPr lang="en-US" sz="1500" dirty="0"/>
          </a:p>
        </p:txBody>
      </p:sp>
      <p:sp>
        <p:nvSpPr>
          <p:cNvPr id="21" name="Python backend pill 3"/>
          <p:cNvSpPr/>
          <p:nvPr/>
        </p:nvSpPr>
        <p:spPr>
          <a:xfrm>
            <a:off x="5303520" y="3785616"/>
            <a:ext cx="2834640" cy="429768"/>
          </a:xfrm>
          <a:prstGeom prst="roundRect">
            <a:avLst>
              <a:gd name="adj" fmla="val 21277"/>
            </a:avLst>
          </a:prstGeom>
          <a:solidFill>
            <a:schemeClr val="bg1"/>
          </a:solidFill>
          <a:ln w="12700">
            <a:solidFill>
              <a:schemeClr val="bg1"/>
            </a:solidFill>
            <a:prstDash val="solid"/>
          </a:ln>
        </p:spPr>
      </p:sp>
      <p:sp>
        <p:nvSpPr>
          <p:cNvPr id="22" name="Python backend pill text 3"/>
          <p:cNvSpPr txBox="1"/>
          <p:nvPr/>
        </p:nvSpPr>
        <p:spPr>
          <a:xfrm>
            <a:off x="5440680" y="3785616"/>
            <a:ext cx="2560320" cy="429768"/>
          </a:xfrm>
          <a:prstGeom prst="rect">
            <a:avLst/>
          </a:prstGeom>
          <a:noFill/>
          <a:ln/>
        </p:spPr>
        <p:txBody>
          <a:bodyPr wrap="square" lIns="0" tIns="0" rIns="0" bIns="0" rtlCol="0" anchor="ctr"/>
          <a:lstStyle/>
          <a:p>
            <a:pPr indent="0" marL="0">
              <a:buNone/>
            </a:pPr>
            <a:r>
              <a:rPr lang="en-US" sz="1500" dirty="0">
                <a:solidFill>
                  <a:schemeClr val="tx1"/>
                </a:solidFill>
              </a:rPr>
              <a:t>Provider adapter</a:t>
            </a:r>
            <a:endParaRPr lang="en-US" sz="1500" dirty="0"/>
          </a:p>
        </p:txBody>
      </p:sp>
      <p:sp>
        <p:nvSpPr>
          <p:cNvPr id="23" name="Python backend pill 4"/>
          <p:cNvSpPr/>
          <p:nvPr/>
        </p:nvSpPr>
        <p:spPr>
          <a:xfrm>
            <a:off x="5303520" y="4306824"/>
            <a:ext cx="2834640" cy="429768"/>
          </a:xfrm>
          <a:prstGeom prst="roundRect">
            <a:avLst>
              <a:gd name="adj" fmla="val 21277"/>
            </a:avLst>
          </a:prstGeom>
          <a:solidFill>
            <a:schemeClr val="bg1"/>
          </a:solidFill>
          <a:ln w="19050">
            <a:solidFill>
              <a:schemeClr val="accent2"/>
            </a:solidFill>
            <a:prstDash val="solid"/>
          </a:ln>
        </p:spPr>
      </p:sp>
      <p:sp>
        <p:nvSpPr>
          <p:cNvPr id="24" name="Python backend pill text 4"/>
          <p:cNvSpPr txBox="1"/>
          <p:nvPr/>
        </p:nvSpPr>
        <p:spPr>
          <a:xfrm>
            <a:off x="5440680" y="4306824"/>
            <a:ext cx="2560320" cy="429768"/>
          </a:xfrm>
          <a:prstGeom prst="rect">
            <a:avLst/>
          </a:prstGeom>
          <a:noFill/>
          <a:ln/>
        </p:spPr>
        <p:txBody>
          <a:bodyPr wrap="square" lIns="0" tIns="0" rIns="0" bIns="0" rtlCol="0" anchor="ctr"/>
          <a:lstStyle/>
          <a:p>
            <a:pPr indent="0" marL="0">
              <a:buNone/>
            </a:pPr>
            <a:r>
              <a:rPr lang="en-US" sz="1500" dirty="0">
                <a:solidFill>
                  <a:schemeClr val="tx1"/>
                </a:solidFill>
              </a:rPr>
              <a:t>Demo analyzer (rule-based)</a:t>
            </a:r>
            <a:endParaRPr lang="en-US" sz="1500" dirty="0"/>
          </a:p>
        </p:txBody>
      </p:sp>
      <p:sp>
        <p:nvSpPr>
          <p:cNvPr id="25" name="Request arrow"/>
          <p:cNvSpPr/>
          <p:nvPr/>
        </p:nvSpPr>
        <p:spPr>
          <a:xfrm>
            <a:off x="4160520" y="2926080"/>
            <a:ext cx="822960" cy="0"/>
          </a:xfrm>
          <a:prstGeom prst="line">
            <a:avLst/>
          </a:prstGeom>
          <a:noFill/>
          <a:ln w="31750">
            <a:solidFill>
              <a:schemeClr val="accent1"/>
            </a:solidFill>
            <a:prstDash val="solid"/>
            <a:tailEnd type="triangle"/>
          </a:ln>
        </p:spPr>
      </p:sp>
      <p:sp>
        <p:nvSpPr>
          <p:cNvPr id="26" name="Request label"/>
          <p:cNvSpPr txBox="1"/>
          <p:nvPr/>
        </p:nvSpPr>
        <p:spPr>
          <a:xfrm>
            <a:off x="4114800" y="2560320"/>
            <a:ext cx="914400" cy="274320"/>
          </a:xfrm>
          <a:prstGeom prst="rect">
            <a:avLst/>
          </a:prstGeom>
          <a:noFill/>
          <a:ln/>
        </p:spPr>
        <p:txBody>
          <a:bodyPr wrap="square" lIns="0" tIns="0" rIns="0" bIns="0" rtlCol="0" anchor="t"/>
          <a:lstStyle/>
          <a:p>
            <a:pPr algn="ctr" indent="0" marL="0">
              <a:buNone/>
            </a:pPr>
            <a:r>
              <a:rPr lang="en-US" sz="1200" dirty="0">
                <a:solidFill>
                  <a:schemeClr val="tx2"/>
                </a:solidFill>
              </a:rPr>
              <a:t>transcript</a:t>
            </a:r>
            <a:endParaRPr lang="en-US" sz="1200" dirty="0"/>
          </a:p>
        </p:txBody>
      </p:sp>
      <p:sp>
        <p:nvSpPr>
          <p:cNvPr id="27" name="Response arrow"/>
          <p:cNvSpPr/>
          <p:nvPr/>
        </p:nvSpPr>
        <p:spPr>
          <a:xfrm>
            <a:off x="4160520" y="3840480"/>
            <a:ext cx="822960" cy="0"/>
          </a:xfrm>
          <a:prstGeom prst="line">
            <a:avLst/>
          </a:prstGeom>
          <a:noFill/>
          <a:ln w="31750">
            <a:solidFill>
              <a:schemeClr val="accent1"/>
            </a:solidFill>
            <a:prstDash val="solid"/>
            <a:headEnd type="triangle"/>
          </a:ln>
        </p:spPr>
      </p:sp>
      <p:sp>
        <p:nvSpPr>
          <p:cNvPr id="28" name="Response label"/>
          <p:cNvSpPr txBox="1"/>
          <p:nvPr/>
        </p:nvSpPr>
        <p:spPr>
          <a:xfrm>
            <a:off x="4114800" y="3931920"/>
            <a:ext cx="914400" cy="274320"/>
          </a:xfrm>
          <a:prstGeom prst="rect">
            <a:avLst/>
          </a:prstGeom>
          <a:noFill/>
          <a:ln/>
        </p:spPr>
        <p:txBody>
          <a:bodyPr wrap="square" lIns="0" tIns="0" rIns="0" bIns="0" rtlCol="0" anchor="t"/>
          <a:lstStyle/>
          <a:p>
            <a:pPr algn="ctr" indent="0" marL="0">
              <a:buNone/>
            </a:pPr>
            <a:r>
              <a:rPr lang="en-US" sz="1200" dirty="0">
                <a:solidFill>
                  <a:schemeClr val="tx2"/>
                </a:solidFill>
              </a:rPr>
              <a:t>result</a:t>
            </a:r>
            <a:endParaRPr lang="en-US" sz="1200" dirty="0"/>
          </a:p>
        </p:txBody>
      </p:sp>
      <p:sp>
        <p:nvSpPr>
          <p:cNvPr id="29" name="AI provider box"/>
          <p:cNvSpPr/>
          <p:nvPr/>
        </p:nvSpPr>
        <p:spPr>
          <a:xfrm>
            <a:off x="9144000" y="1554480"/>
            <a:ext cx="2496312" cy="1828800"/>
          </a:xfrm>
          <a:prstGeom prst="roundRect">
            <a:avLst>
              <a:gd name="adj" fmla="val 6000"/>
            </a:avLst>
          </a:prstGeom>
          <a:solidFill>
            <a:schemeClr val="tx1"/>
          </a:solidFill>
          <a:ln w="12700">
            <a:solidFill>
              <a:schemeClr val="tx1"/>
            </a:solidFill>
            <a:prstDash val="solid"/>
          </a:ln>
        </p:spPr>
      </p:sp>
      <p:sp>
        <p:nvSpPr>
          <p:cNvPr id="30" name="AI provider circle"/>
          <p:cNvSpPr/>
          <p:nvPr/>
        </p:nvSpPr>
        <p:spPr>
          <a:xfrm>
            <a:off x="9418320" y="1783080"/>
            <a:ext cx="548640" cy="548640"/>
          </a:xfrm>
          <a:prstGeom prst="ellipse">
            <a:avLst/>
          </a:prstGeom>
          <a:solidFill>
            <a:schemeClr val="accent1"/>
          </a:solidFill>
          <a:ln w="12700">
            <a:solidFill>
              <a:schemeClr val="accent1"/>
            </a:solidFill>
            <a:prstDash val="solid"/>
          </a:ln>
        </p:spPr>
      </p:sp>
      <p:pic>
        <p:nvPicPr>
          <p:cNvPr id="31" name="AI provider icon" descr="AI provider">    </p:cNvPr>
          <p:cNvPicPr>
            <a:picLocks noChangeAspect="1"/>
          </p:cNvPicPr>
          <p:nvPr/>
        </p:nvPicPr>
        <p:blipFill>
          <a:blip r:embed="rId1"/>
          <a:stretch>
            <a:fillRect/>
          </a:stretch>
        </p:blipFill>
        <p:spPr>
          <a:xfrm>
            <a:off x="9566453" y="1931213"/>
            <a:ext cx="252374" cy="252374"/>
          </a:xfrm>
          <a:prstGeom prst="rect">
            <a:avLst/>
          </a:prstGeom>
        </p:spPr>
      </p:pic>
      <p:sp>
        <p:nvSpPr>
          <p:cNvPr id="32" name="AI provider title"/>
          <p:cNvSpPr txBox="1"/>
          <p:nvPr/>
        </p:nvSpPr>
        <p:spPr>
          <a:xfrm>
            <a:off x="10104120" y="1783080"/>
            <a:ext cx="1463040" cy="548640"/>
          </a:xfrm>
          <a:prstGeom prst="rect">
            <a:avLst/>
          </a:prstGeom>
          <a:noFill/>
          <a:ln/>
        </p:spPr>
        <p:txBody>
          <a:bodyPr wrap="square" lIns="0" tIns="0" rIns="0" bIns="0" rtlCol="0" anchor="ctr"/>
          <a:lstStyle/>
          <a:p>
            <a:pPr indent="0" marL="0">
              <a:buNone/>
            </a:pPr>
            <a:r>
              <a:rPr lang="en-US" sz="1800" b="1" dirty="0">
                <a:solidFill>
                  <a:schemeClr val="bg1"/>
                </a:solidFill>
              </a:rPr>
              <a:t>AI provider</a:t>
            </a:r>
            <a:endParaRPr lang="en-US" sz="1800" dirty="0"/>
          </a:p>
        </p:txBody>
      </p:sp>
      <p:sp>
        <p:nvSpPr>
          <p:cNvPr id="33" name="AI provider body"/>
          <p:cNvSpPr txBox="1"/>
          <p:nvPr/>
        </p:nvSpPr>
        <p:spPr>
          <a:xfrm>
            <a:off x="9418320" y="2514600"/>
            <a:ext cx="2011680" cy="777240"/>
          </a:xfrm>
          <a:prstGeom prst="rect">
            <a:avLst/>
          </a:prstGeom>
          <a:noFill/>
          <a:ln/>
        </p:spPr>
        <p:txBody>
          <a:bodyPr wrap="square" lIns="0" tIns="0" rIns="0" bIns="0" rtlCol="0" anchor="t"/>
          <a:lstStyle/>
          <a:p>
            <a:pPr indent="0" marL="0">
              <a:buNone/>
            </a:pPr>
            <a:r>
              <a:rPr lang="en-US" sz="1400" dirty="0">
                <a:solidFill>
                  <a:schemeClr val="bg2"/>
                </a:solidFill>
              </a:rPr>
              <a:t>Claude, Gemini or any OpenAI-compatible model</a:t>
            </a:r>
            <a:endParaRPr lang="en-US" sz="1400" dirty="0"/>
          </a:p>
        </p:txBody>
      </p:sp>
      <p:sp>
        <p:nvSpPr>
          <p:cNvPr id="34" name="Provider arrow"/>
          <p:cNvSpPr/>
          <p:nvPr/>
        </p:nvSpPr>
        <p:spPr>
          <a:xfrm>
            <a:off x="8458200" y="2468880"/>
            <a:ext cx="640080" cy="0"/>
          </a:xfrm>
          <a:prstGeom prst="line">
            <a:avLst/>
          </a:prstGeom>
          <a:noFill/>
          <a:ln w="31750">
            <a:solidFill>
              <a:schemeClr val="accent1"/>
            </a:solidFill>
            <a:prstDash val="solid"/>
            <a:headEnd type="triangle"/>
            <a:tailEnd type="triangle"/>
          </a:ln>
        </p:spPr>
      </p:sp>
      <p:sp>
        <p:nvSpPr>
          <p:cNvPr id="35" name="Key safety callout"/>
          <p:cNvSpPr/>
          <p:nvPr/>
        </p:nvSpPr>
        <p:spPr>
          <a:xfrm>
            <a:off x="9144000" y="3611880"/>
            <a:ext cx="2496312" cy="1417320"/>
          </a:xfrm>
          <a:prstGeom prst="roundRect">
            <a:avLst>
              <a:gd name="adj" fmla="val 7742"/>
            </a:avLst>
          </a:prstGeom>
          <a:solidFill>
            <a:schemeClr val="accent2"/>
          </a:solidFill>
          <a:ln w="12700">
            <a:solidFill>
              <a:schemeClr val="accent2"/>
            </a:solidFill>
            <a:prstDash val="solid"/>
          </a:ln>
        </p:spPr>
      </p:sp>
      <p:pic>
        <p:nvPicPr>
          <p:cNvPr id="36" name="Lock icon" descr="Lock">    </p:cNvPr>
          <p:cNvPicPr>
            <a:picLocks noChangeAspect="1"/>
          </p:cNvPicPr>
          <p:nvPr/>
        </p:nvPicPr>
        <p:blipFill>
          <a:blip r:embed="rId2"/>
          <a:stretch>
            <a:fillRect/>
          </a:stretch>
        </p:blipFill>
        <p:spPr>
          <a:xfrm>
            <a:off x="9372600" y="3794760"/>
            <a:ext cx="365760" cy="365760"/>
          </a:xfrm>
          <a:prstGeom prst="rect">
            <a:avLst/>
          </a:prstGeom>
        </p:spPr>
      </p:pic>
      <p:sp>
        <p:nvSpPr>
          <p:cNvPr id="37" name="Key callout text"/>
          <p:cNvSpPr txBox="1"/>
          <p:nvPr/>
        </p:nvSpPr>
        <p:spPr>
          <a:xfrm>
            <a:off x="9372600" y="4251960"/>
            <a:ext cx="2103120" cy="731520"/>
          </a:xfrm>
          <a:prstGeom prst="rect">
            <a:avLst/>
          </a:prstGeom>
          <a:noFill/>
          <a:ln/>
        </p:spPr>
        <p:txBody>
          <a:bodyPr wrap="square" lIns="0" tIns="0" rIns="0" bIns="0" rtlCol="0" anchor="t"/>
          <a:lstStyle/>
          <a:p>
            <a:pPr indent="0" marL="0">
              <a:buNone/>
            </a:pPr>
            <a:r>
              <a:rPr lang="en-US" sz="1400" b="1" dirty="0">
                <a:solidFill>
                  <a:schemeClr val="tx1"/>
                </a:solidFill>
              </a:rPr>
              <a:t>The API key lives only on the server, never in the browser</a:t>
            </a:r>
            <a:endParaRPr lang="en-US" sz="1400" dirty="0"/>
          </a:p>
        </p:txBody>
      </p:sp>
      <p:sp>
        <p:nvSpPr>
          <p:cNvPr id="38" name="Demo mode strip"/>
          <p:cNvSpPr/>
          <p:nvPr/>
        </p:nvSpPr>
        <p:spPr>
          <a:xfrm>
            <a:off x="548640" y="5303520"/>
            <a:ext cx="11094415" cy="822960"/>
          </a:xfrm>
          <a:prstGeom prst="roundRect">
            <a:avLst>
              <a:gd name="adj" fmla="val 13333"/>
            </a:avLst>
          </a:prstGeom>
          <a:solidFill>
            <a:schemeClr val="bg2"/>
          </a:solidFill>
          <a:ln w="12700">
            <a:solidFill>
              <a:schemeClr val="bg2"/>
            </a:solidFill>
            <a:prstDash val="solid"/>
          </a:ln>
        </p:spPr>
      </p:sp>
      <p:sp>
        <p:nvSpPr>
          <p:cNvPr id="39" name="Demo mode circle"/>
          <p:cNvSpPr/>
          <p:nvPr/>
        </p:nvSpPr>
        <p:spPr>
          <a:xfrm>
            <a:off x="822960" y="5394960"/>
            <a:ext cx="640080" cy="640080"/>
          </a:xfrm>
          <a:prstGeom prst="ellipse">
            <a:avLst/>
          </a:prstGeom>
          <a:solidFill>
            <a:schemeClr val="accent2"/>
          </a:solidFill>
          <a:ln w="12700">
            <a:solidFill>
              <a:schemeClr val="accent2"/>
            </a:solidFill>
            <a:prstDash val="solid"/>
          </a:ln>
        </p:spPr>
      </p:sp>
      <p:pic>
        <p:nvPicPr>
          <p:cNvPr id="40" name="Demo mode icon" descr="Demo mode">    </p:cNvPr>
          <p:cNvPicPr>
            <a:picLocks noChangeAspect="1"/>
          </p:cNvPicPr>
          <p:nvPr/>
        </p:nvPicPr>
        <p:blipFill>
          <a:blip r:embed="rId3"/>
          <a:stretch>
            <a:fillRect/>
          </a:stretch>
        </p:blipFill>
        <p:spPr>
          <a:xfrm>
            <a:off x="995782" y="5567782"/>
            <a:ext cx="294437" cy="294437"/>
          </a:xfrm>
          <a:prstGeom prst="rect">
            <a:avLst/>
          </a:prstGeom>
        </p:spPr>
      </p:pic>
      <p:sp>
        <p:nvSpPr>
          <p:cNvPr id="41" name="Demo mode text"/>
          <p:cNvSpPr txBox="1"/>
          <p:nvPr/>
        </p:nvSpPr>
        <p:spPr>
          <a:xfrm>
            <a:off x="1691640" y="5303520"/>
            <a:ext cx="9631375" cy="822960"/>
          </a:xfrm>
          <a:prstGeom prst="rect">
            <a:avLst/>
          </a:prstGeom>
          <a:noFill/>
          <a:ln/>
        </p:spPr>
        <p:txBody>
          <a:bodyPr wrap="square" lIns="0" tIns="0" rIns="0" bIns="0" rtlCol="0" anchor="ctr"/>
          <a:lstStyle/>
          <a:p>
            <a:pPr indent="0" marL="0">
              <a:buNone/>
            </a:pPr>
            <a:r>
              <a:rPr lang="en-US" sz="1500" b="1" dirty="0">
                <a:solidFill>
                  <a:schemeClr val="tx1"/>
                </a:solidFill>
              </a:rPr>
              <a:t>No API key? </a:t>
            </a:r>
            <a:pPr indent="0" marL="0">
              <a:buNone/>
            </a:pPr>
            <a:r>
              <a:rPr lang="en-US" sz="1500" dirty="0">
                <a:solidFill>
                  <a:schemeClr val="tx1"/>
                </a:solidFill>
              </a:rPr>
              <a:t>Demo mode runs the same workflow with a rule-based analyzer and makes no network calls. It is always labelled as demo, never passed off as AI.</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The tools we used</a:t>
            </a:r>
            <a:endParaRPr lang="en-US" sz="3400" dirty="0"/>
          </a:p>
        </p:txBody>
      </p:sp>
      <p:sp>
        <p:nvSpPr>
          <p:cNvPr id="3" name="Tool row 1"/>
          <p:cNvSpPr/>
          <p:nvPr/>
        </p:nvSpPr>
        <p:spPr>
          <a:xfrm>
            <a:off x="548640" y="1463040"/>
            <a:ext cx="11094415" cy="822960"/>
          </a:xfrm>
          <a:prstGeom prst="roundRect">
            <a:avLst>
              <a:gd name="adj" fmla="val 13333"/>
            </a:avLst>
          </a:prstGeom>
          <a:solidFill>
            <a:schemeClr val="bg2"/>
          </a:solidFill>
          <a:ln w="12700">
            <a:solidFill>
              <a:schemeClr val="bg2"/>
            </a:solidFill>
            <a:prstDash val="solid"/>
          </a:ln>
        </p:spPr>
      </p:sp>
      <p:sp>
        <p:nvSpPr>
          <p:cNvPr id="4" name="Tool 1 circle"/>
          <p:cNvSpPr/>
          <p:nvPr/>
        </p:nvSpPr>
        <p:spPr>
          <a:xfrm>
            <a:off x="822960" y="1600200"/>
            <a:ext cx="548640" cy="548640"/>
          </a:xfrm>
          <a:prstGeom prst="ellipse">
            <a:avLst/>
          </a:prstGeom>
          <a:solidFill>
            <a:schemeClr val="accent1"/>
          </a:solidFill>
          <a:ln w="12700">
            <a:solidFill>
              <a:schemeClr val="accent1"/>
            </a:solidFill>
            <a:prstDash val="solid"/>
          </a:ln>
        </p:spPr>
      </p:sp>
      <p:pic>
        <p:nvPicPr>
          <p:cNvPr id="5" name="Tool 1 icon" descr="Tool 1">    </p:cNvPr>
          <p:cNvPicPr>
            <a:picLocks noChangeAspect="1"/>
          </p:cNvPicPr>
          <p:nvPr/>
        </p:nvPicPr>
        <p:blipFill>
          <a:blip r:embed="rId1"/>
          <a:stretch>
            <a:fillRect/>
          </a:stretch>
        </p:blipFill>
        <p:spPr>
          <a:xfrm>
            <a:off x="971093" y="1748333"/>
            <a:ext cx="252374" cy="252374"/>
          </a:xfrm>
          <a:prstGeom prst="rect">
            <a:avLst/>
          </a:prstGeom>
        </p:spPr>
      </p:pic>
      <p:sp>
        <p:nvSpPr>
          <p:cNvPr id="6" name="Tool name 1"/>
          <p:cNvSpPr txBox="1"/>
          <p:nvPr/>
        </p:nvSpPr>
        <p:spPr>
          <a:xfrm>
            <a:off x="1645920" y="1463040"/>
            <a:ext cx="1920240" cy="822960"/>
          </a:xfrm>
          <a:prstGeom prst="rect">
            <a:avLst/>
          </a:prstGeom>
          <a:noFill/>
          <a:ln/>
        </p:spPr>
        <p:txBody>
          <a:bodyPr wrap="square" lIns="0" tIns="0" rIns="0" bIns="0" rtlCol="0" anchor="ctr"/>
          <a:lstStyle/>
          <a:p>
            <a:pPr indent="0" marL="0">
              <a:buNone/>
            </a:pPr>
            <a:r>
              <a:rPr lang="en-US" sz="2000" b="1" dirty="0">
                <a:solidFill>
                  <a:schemeClr val="tx1"/>
                </a:solidFill>
              </a:rPr>
              <a:t>Frontend</a:t>
            </a:r>
            <a:endParaRPr lang="en-US" sz="2000" dirty="0"/>
          </a:p>
        </p:txBody>
      </p:sp>
      <p:sp>
        <p:nvSpPr>
          <p:cNvPr id="7" name="Tool desc 1"/>
          <p:cNvSpPr txBox="1"/>
          <p:nvPr/>
        </p:nvSpPr>
        <p:spPr>
          <a:xfrm>
            <a:off x="3657600" y="1463040"/>
            <a:ext cx="7711135" cy="822960"/>
          </a:xfrm>
          <a:prstGeom prst="rect">
            <a:avLst/>
          </a:prstGeom>
          <a:noFill/>
          <a:ln/>
        </p:spPr>
        <p:txBody>
          <a:bodyPr wrap="square" lIns="0" tIns="0" rIns="0" bIns="0" rtlCol="0" anchor="ctr"/>
          <a:lstStyle/>
          <a:p>
            <a:pPr indent="0" marL="0">
              <a:buNone/>
            </a:pPr>
            <a:r>
              <a:rPr lang="en-US" sz="1500" dirty="0">
                <a:solidFill>
                  <a:schemeClr val="tx2"/>
                </a:solidFill>
              </a:rPr>
              <a:t>HTML, CSS and plain JavaScript, no build step. Extends our original Kanban board.</a:t>
            </a:r>
            <a:endParaRPr lang="en-US" sz="1500" dirty="0"/>
          </a:p>
        </p:txBody>
      </p:sp>
      <p:sp>
        <p:nvSpPr>
          <p:cNvPr id="8" name="Tool row 2"/>
          <p:cNvSpPr/>
          <p:nvPr/>
        </p:nvSpPr>
        <p:spPr>
          <a:xfrm>
            <a:off x="548640" y="2395728"/>
            <a:ext cx="11094415" cy="822960"/>
          </a:xfrm>
          <a:prstGeom prst="roundRect">
            <a:avLst>
              <a:gd name="adj" fmla="val 13333"/>
            </a:avLst>
          </a:prstGeom>
          <a:solidFill>
            <a:schemeClr val="bg2"/>
          </a:solidFill>
          <a:ln w="12700">
            <a:solidFill>
              <a:schemeClr val="bg2"/>
            </a:solidFill>
            <a:prstDash val="solid"/>
          </a:ln>
        </p:spPr>
      </p:sp>
      <p:sp>
        <p:nvSpPr>
          <p:cNvPr id="9" name="Tool 2 circle"/>
          <p:cNvSpPr/>
          <p:nvPr/>
        </p:nvSpPr>
        <p:spPr>
          <a:xfrm>
            <a:off x="822960" y="2532888"/>
            <a:ext cx="548640" cy="548640"/>
          </a:xfrm>
          <a:prstGeom prst="ellipse">
            <a:avLst/>
          </a:prstGeom>
          <a:solidFill>
            <a:schemeClr val="accent1"/>
          </a:solidFill>
          <a:ln w="12700">
            <a:solidFill>
              <a:schemeClr val="accent1"/>
            </a:solidFill>
            <a:prstDash val="solid"/>
          </a:ln>
        </p:spPr>
      </p:sp>
      <p:pic>
        <p:nvPicPr>
          <p:cNvPr id="10" name="Tool 2 icon" descr="Tool 2">    </p:cNvPr>
          <p:cNvPicPr>
            <a:picLocks noChangeAspect="1"/>
          </p:cNvPicPr>
          <p:nvPr/>
        </p:nvPicPr>
        <p:blipFill>
          <a:blip r:embed="rId2"/>
          <a:stretch>
            <a:fillRect/>
          </a:stretch>
        </p:blipFill>
        <p:spPr>
          <a:xfrm>
            <a:off x="971093" y="2681021"/>
            <a:ext cx="252374" cy="252374"/>
          </a:xfrm>
          <a:prstGeom prst="rect">
            <a:avLst/>
          </a:prstGeom>
        </p:spPr>
      </p:pic>
      <p:sp>
        <p:nvSpPr>
          <p:cNvPr id="11" name="Tool name 2"/>
          <p:cNvSpPr txBox="1"/>
          <p:nvPr/>
        </p:nvSpPr>
        <p:spPr>
          <a:xfrm>
            <a:off x="1645920" y="2395728"/>
            <a:ext cx="1920240" cy="822960"/>
          </a:xfrm>
          <a:prstGeom prst="rect">
            <a:avLst/>
          </a:prstGeom>
          <a:noFill/>
          <a:ln/>
        </p:spPr>
        <p:txBody>
          <a:bodyPr wrap="square" lIns="0" tIns="0" rIns="0" bIns="0" rtlCol="0" anchor="ctr"/>
          <a:lstStyle/>
          <a:p>
            <a:pPr indent="0" marL="0">
              <a:buNone/>
            </a:pPr>
            <a:r>
              <a:rPr lang="en-US" sz="2000" b="1" dirty="0">
                <a:solidFill>
                  <a:schemeClr val="tx1"/>
                </a:solidFill>
              </a:rPr>
              <a:t>Backend</a:t>
            </a:r>
            <a:endParaRPr lang="en-US" sz="2000" dirty="0"/>
          </a:p>
        </p:txBody>
      </p:sp>
      <p:sp>
        <p:nvSpPr>
          <p:cNvPr id="12" name="Tool desc 2"/>
          <p:cNvSpPr txBox="1"/>
          <p:nvPr/>
        </p:nvSpPr>
        <p:spPr>
          <a:xfrm>
            <a:off x="3657600" y="2395728"/>
            <a:ext cx="7711135" cy="822960"/>
          </a:xfrm>
          <a:prstGeom prst="rect">
            <a:avLst/>
          </a:prstGeom>
          <a:noFill/>
          <a:ln/>
        </p:spPr>
        <p:txBody>
          <a:bodyPr wrap="square" lIns="0" tIns="0" rIns="0" bIns="0" rtlCol="0" anchor="ctr"/>
          <a:lstStyle/>
          <a:p>
            <a:pPr indent="0" marL="0">
              <a:buNone/>
            </a:pPr>
            <a:r>
              <a:rPr lang="en-US" sz="1500" dirty="0">
                <a:solidFill>
                  <a:schemeClr val="tx2"/>
                </a:solidFill>
              </a:rPr>
              <a:t>Python with FastAPI: a small, secure proxy for AI calls. Pydantic validates every AI response.</a:t>
            </a:r>
            <a:endParaRPr lang="en-US" sz="1500" dirty="0"/>
          </a:p>
        </p:txBody>
      </p:sp>
      <p:sp>
        <p:nvSpPr>
          <p:cNvPr id="13" name="Tool row 3"/>
          <p:cNvSpPr/>
          <p:nvPr/>
        </p:nvSpPr>
        <p:spPr>
          <a:xfrm>
            <a:off x="548640" y="3328416"/>
            <a:ext cx="11094415" cy="822960"/>
          </a:xfrm>
          <a:prstGeom prst="roundRect">
            <a:avLst>
              <a:gd name="adj" fmla="val 13333"/>
            </a:avLst>
          </a:prstGeom>
          <a:solidFill>
            <a:schemeClr val="bg2"/>
          </a:solidFill>
          <a:ln w="12700">
            <a:solidFill>
              <a:schemeClr val="bg2"/>
            </a:solidFill>
            <a:prstDash val="solid"/>
          </a:ln>
        </p:spPr>
      </p:sp>
      <p:sp>
        <p:nvSpPr>
          <p:cNvPr id="14" name="Tool 3 circle"/>
          <p:cNvSpPr/>
          <p:nvPr/>
        </p:nvSpPr>
        <p:spPr>
          <a:xfrm>
            <a:off x="822960" y="3465576"/>
            <a:ext cx="548640" cy="548640"/>
          </a:xfrm>
          <a:prstGeom prst="ellipse">
            <a:avLst/>
          </a:prstGeom>
          <a:solidFill>
            <a:schemeClr val="accent1"/>
          </a:solidFill>
          <a:ln w="12700">
            <a:solidFill>
              <a:schemeClr val="accent1"/>
            </a:solidFill>
            <a:prstDash val="solid"/>
          </a:ln>
        </p:spPr>
      </p:sp>
      <p:pic>
        <p:nvPicPr>
          <p:cNvPr id="15" name="Tool 3 icon" descr="Tool 3">    </p:cNvPr>
          <p:cNvPicPr>
            <a:picLocks noChangeAspect="1"/>
          </p:cNvPicPr>
          <p:nvPr/>
        </p:nvPicPr>
        <p:blipFill>
          <a:blip r:embed="rId3"/>
          <a:stretch>
            <a:fillRect/>
          </a:stretch>
        </p:blipFill>
        <p:spPr>
          <a:xfrm>
            <a:off x="971093" y="3613709"/>
            <a:ext cx="252374" cy="252374"/>
          </a:xfrm>
          <a:prstGeom prst="rect">
            <a:avLst/>
          </a:prstGeom>
        </p:spPr>
      </p:pic>
      <p:sp>
        <p:nvSpPr>
          <p:cNvPr id="16" name="Tool name 3"/>
          <p:cNvSpPr txBox="1"/>
          <p:nvPr/>
        </p:nvSpPr>
        <p:spPr>
          <a:xfrm>
            <a:off x="1645920" y="3328416"/>
            <a:ext cx="1920240" cy="822960"/>
          </a:xfrm>
          <a:prstGeom prst="rect">
            <a:avLst/>
          </a:prstGeom>
          <a:noFill/>
          <a:ln/>
        </p:spPr>
        <p:txBody>
          <a:bodyPr wrap="square" lIns="0" tIns="0" rIns="0" bIns="0" rtlCol="0" anchor="ctr"/>
          <a:lstStyle/>
          <a:p>
            <a:pPr indent="0" marL="0">
              <a:buNone/>
            </a:pPr>
            <a:r>
              <a:rPr lang="en-US" sz="2000" b="1" dirty="0">
                <a:solidFill>
                  <a:schemeClr val="tx1"/>
                </a:solidFill>
              </a:rPr>
              <a:t>AI models</a:t>
            </a:r>
            <a:endParaRPr lang="en-US" sz="2000" dirty="0"/>
          </a:p>
        </p:txBody>
      </p:sp>
      <p:sp>
        <p:nvSpPr>
          <p:cNvPr id="17" name="Tool desc 3"/>
          <p:cNvSpPr txBox="1"/>
          <p:nvPr/>
        </p:nvSpPr>
        <p:spPr>
          <a:xfrm>
            <a:off x="3657600" y="3328416"/>
            <a:ext cx="7711135" cy="822960"/>
          </a:xfrm>
          <a:prstGeom prst="rect">
            <a:avLst/>
          </a:prstGeom>
          <a:noFill/>
          <a:ln/>
        </p:spPr>
        <p:txBody>
          <a:bodyPr wrap="square" lIns="0" tIns="0" rIns="0" bIns="0" rtlCol="0" anchor="ctr"/>
          <a:lstStyle/>
          <a:p>
            <a:pPr indent="0" marL="0">
              <a:buNone/>
            </a:pPr>
            <a:r>
              <a:rPr lang="en-US" sz="1500" dirty="0">
                <a:solidFill>
                  <a:schemeClr val="tx2"/>
                </a:solidFill>
              </a:rPr>
              <a:t>Pluggable adapters for Claude, Gemini and OpenAI-compatible models. The model name is configuration.</a:t>
            </a:r>
            <a:endParaRPr lang="en-US" sz="1500" dirty="0"/>
          </a:p>
        </p:txBody>
      </p:sp>
      <p:sp>
        <p:nvSpPr>
          <p:cNvPr id="18" name="Tool row 4"/>
          <p:cNvSpPr/>
          <p:nvPr/>
        </p:nvSpPr>
        <p:spPr>
          <a:xfrm>
            <a:off x="548640" y="4261104"/>
            <a:ext cx="11094415" cy="822960"/>
          </a:xfrm>
          <a:prstGeom prst="roundRect">
            <a:avLst>
              <a:gd name="adj" fmla="val 13333"/>
            </a:avLst>
          </a:prstGeom>
          <a:solidFill>
            <a:schemeClr val="bg2"/>
          </a:solidFill>
          <a:ln w="12700">
            <a:solidFill>
              <a:schemeClr val="bg2"/>
            </a:solidFill>
            <a:prstDash val="solid"/>
          </a:ln>
        </p:spPr>
      </p:sp>
      <p:sp>
        <p:nvSpPr>
          <p:cNvPr id="19" name="Tool 4 circle"/>
          <p:cNvSpPr/>
          <p:nvPr/>
        </p:nvSpPr>
        <p:spPr>
          <a:xfrm>
            <a:off x="822960" y="4398264"/>
            <a:ext cx="548640" cy="548640"/>
          </a:xfrm>
          <a:prstGeom prst="ellipse">
            <a:avLst/>
          </a:prstGeom>
          <a:solidFill>
            <a:schemeClr val="accent1"/>
          </a:solidFill>
          <a:ln w="12700">
            <a:solidFill>
              <a:schemeClr val="accent1"/>
            </a:solidFill>
            <a:prstDash val="solid"/>
          </a:ln>
        </p:spPr>
      </p:sp>
      <p:pic>
        <p:nvPicPr>
          <p:cNvPr id="20" name="Tool 4 icon" descr="Tool 4">    </p:cNvPr>
          <p:cNvPicPr>
            <a:picLocks noChangeAspect="1"/>
          </p:cNvPicPr>
          <p:nvPr/>
        </p:nvPicPr>
        <p:blipFill>
          <a:blip r:embed="rId4"/>
          <a:stretch>
            <a:fillRect/>
          </a:stretch>
        </p:blipFill>
        <p:spPr>
          <a:xfrm>
            <a:off x="971093" y="4546397"/>
            <a:ext cx="252374" cy="252374"/>
          </a:xfrm>
          <a:prstGeom prst="rect">
            <a:avLst/>
          </a:prstGeom>
        </p:spPr>
      </p:pic>
      <p:sp>
        <p:nvSpPr>
          <p:cNvPr id="21" name="Tool name 4"/>
          <p:cNvSpPr txBox="1"/>
          <p:nvPr/>
        </p:nvSpPr>
        <p:spPr>
          <a:xfrm>
            <a:off x="1645920" y="4261104"/>
            <a:ext cx="1920240" cy="822960"/>
          </a:xfrm>
          <a:prstGeom prst="rect">
            <a:avLst/>
          </a:prstGeom>
          <a:noFill/>
          <a:ln/>
        </p:spPr>
        <p:txBody>
          <a:bodyPr wrap="square" lIns="0" tIns="0" rIns="0" bIns="0" rtlCol="0" anchor="ctr"/>
          <a:lstStyle/>
          <a:p>
            <a:pPr indent="0" marL="0">
              <a:buNone/>
            </a:pPr>
            <a:r>
              <a:rPr lang="en-US" sz="2000" b="1" dirty="0">
                <a:solidFill>
                  <a:schemeClr val="tx1"/>
                </a:solidFill>
              </a:rPr>
              <a:t>Storage</a:t>
            </a:r>
            <a:endParaRPr lang="en-US" sz="2000" dirty="0"/>
          </a:p>
        </p:txBody>
      </p:sp>
      <p:sp>
        <p:nvSpPr>
          <p:cNvPr id="22" name="Tool desc 4"/>
          <p:cNvSpPr txBox="1"/>
          <p:nvPr/>
        </p:nvSpPr>
        <p:spPr>
          <a:xfrm>
            <a:off x="3657600" y="4261104"/>
            <a:ext cx="7711135" cy="822960"/>
          </a:xfrm>
          <a:prstGeom prst="rect">
            <a:avLst/>
          </a:prstGeom>
          <a:noFill/>
          <a:ln/>
        </p:spPr>
        <p:txBody>
          <a:bodyPr wrap="square" lIns="0" tIns="0" rIns="0" bIns="0" rtlCol="0" anchor="ctr"/>
          <a:lstStyle/>
          <a:p>
            <a:pPr indent="0" marL="0">
              <a:buNone/>
            </a:pPr>
            <a:r>
              <a:rPr lang="en-US" sz="1500" dirty="0">
                <a:solidFill>
                  <a:schemeClr val="tx2"/>
                </a:solidFill>
              </a:rPr>
              <a:t>Browser localStorage with a versioned schema, migration of old cards, and JSON backups.</a:t>
            </a:r>
            <a:endParaRPr lang="en-US" sz="1500" dirty="0"/>
          </a:p>
        </p:txBody>
      </p:sp>
      <p:sp>
        <p:nvSpPr>
          <p:cNvPr id="23" name="Tool row 5"/>
          <p:cNvSpPr/>
          <p:nvPr/>
        </p:nvSpPr>
        <p:spPr>
          <a:xfrm>
            <a:off x="548640" y="5193792"/>
            <a:ext cx="11094415" cy="822960"/>
          </a:xfrm>
          <a:prstGeom prst="roundRect">
            <a:avLst>
              <a:gd name="adj" fmla="val 13333"/>
            </a:avLst>
          </a:prstGeom>
          <a:solidFill>
            <a:schemeClr val="bg2"/>
          </a:solidFill>
          <a:ln w="12700">
            <a:solidFill>
              <a:schemeClr val="bg2"/>
            </a:solidFill>
            <a:prstDash val="solid"/>
          </a:ln>
        </p:spPr>
      </p:sp>
      <p:sp>
        <p:nvSpPr>
          <p:cNvPr id="24" name="Tool 5 circle"/>
          <p:cNvSpPr/>
          <p:nvPr/>
        </p:nvSpPr>
        <p:spPr>
          <a:xfrm>
            <a:off x="822960" y="5330952"/>
            <a:ext cx="548640" cy="548640"/>
          </a:xfrm>
          <a:prstGeom prst="ellipse">
            <a:avLst/>
          </a:prstGeom>
          <a:solidFill>
            <a:schemeClr val="accent1"/>
          </a:solidFill>
          <a:ln w="12700">
            <a:solidFill>
              <a:schemeClr val="accent1"/>
            </a:solidFill>
            <a:prstDash val="solid"/>
          </a:ln>
        </p:spPr>
      </p:sp>
      <p:pic>
        <p:nvPicPr>
          <p:cNvPr id="25" name="Tool 5 icon" descr="Tool 5">    </p:cNvPr>
          <p:cNvPicPr>
            <a:picLocks noChangeAspect="1"/>
          </p:cNvPicPr>
          <p:nvPr/>
        </p:nvPicPr>
        <p:blipFill>
          <a:blip r:embed="rId5"/>
          <a:stretch>
            <a:fillRect/>
          </a:stretch>
        </p:blipFill>
        <p:spPr>
          <a:xfrm>
            <a:off x="971093" y="5479085"/>
            <a:ext cx="252374" cy="252374"/>
          </a:xfrm>
          <a:prstGeom prst="rect">
            <a:avLst/>
          </a:prstGeom>
        </p:spPr>
      </p:pic>
      <p:sp>
        <p:nvSpPr>
          <p:cNvPr id="26" name="Tool name 5"/>
          <p:cNvSpPr txBox="1"/>
          <p:nvPr/>
        </p:nvSpPr>
        <p:spPr>
          <a:xfrm>
            <a:off x="1645920" y="5193792"/>
            <a:ext cx="1920240" cy="822960"/>
          </a:xfrm>
          <a:prstGeom prst="rect">
            <a:avLst/>
          </a:prstGeom>
          <a:noFill/>
          <a:ln/>
        </p:spPr>
        <p:txBody>
          <a:bodyPr wrap="square" lIns="0" tIns="0" rIns="0" bIns="0" rtlCol="0" anchor="ctr"/>
          <a:lstStyle/>
          <a:p>
            <a:pPr indent="0" marL="0">
              <a:buNone/>
            </a:pPr>
            <a:r>
              <a:rPr lang="en-US" sz="2000" b="1" dirty="0">
                <a:solidFill>
                  <a:schemeClr val="tx1"/>
                </a:solidFill>
              </a:rPr>
              <a:t>Testing</a:t>
            </a:r>
            <a:endParaRPr lang="en-US" sz="2000" dirty="0"/>
          </a:p>
        </p:txBody>
      </p:sp>
      <p:sp>
        <p:nvSpPr>
          <p:cNvPr id="27" name="Tool desc 5"/>
          <p:cNvSpPr txBox="1"/>
          <p:nvPr/>
        </p:nvSpPr>
        <p:spPr>
          <a:xfrm>
            <a:off x="3657600" y="5193792"/>
            <a:ext cx="7711135" cy="822960"/>
          </a:xfrm>
          <a:prstGeom prst="rect">
            <a:avLst/>
          </a:prstGeom>
          <a:noFill/>
          <a:ln/>
        </p:spPr>
        <p:txBody>
          <a:bodyPr wrap="square" lIns="0" tIns="0" rIns="0" bIns="0" rtlCol="0" anchor="ctr"/>
          <a:lstStyle/>
          <a:p>
            <a:pPr indent="0" marL="0">
              <a:buNone/>
            </a:pPr>
            <a:r>
              <a:rPr lang="en-US" sz="1500" dirty="0">
                <a:solidFill>
                  <a:schemeClr val="tx2"/>
                </a:solidFill>
              </a:rPr>
              <a:t>pytest, the Node test runner and jsdom: 99 automated tests, including the full demo workflow.</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AI suggests. People decide.</a:t>
            </a:r>
            <a:endParaRPr lang="en-US" sz="3400" dirty="0"/>
          </a:p>
        </p:txBody>
      </p:sp>
      <p:sp>
        <p:nvSpPr>
          <p:cNvPr id="3" name="Mock caption"/>
          <p:cNvSpPr txBox="1"/>
          <p:nvPr/>
        </p:nvSpPr>
        <p:spPr>
          <a:xfrm>
            <a:off x="548640" y="1417320"/>
            <a:ext cx="5120640" cy="274320"/>
          </a:xfrm>
          <a:prstGeom prst="rect">
            <a:avLst/>
          </a:prstGeom>
          <a:noFill/>
          <a:ln/>
        </p:spPr>
        <p:txBody>
          <a:bodyPr wrap="square" lIns="0" tIns="0" rIns="0" bIns="0" rtlCol="0" anchor="t"/>
          <a:lstStyle/>
          <a:p>
            <a:pPr indent="0" marL="0">
              <a:buNone/>
            </a:pPr>
            <a:r>
              <a:rPr lang="en-US" sz="1200" dirty="0">
                <a:solidFill>
                  <a:schemeClr val="tx2"/>
                </a:solidFill>
              </a:rPr>
              <a:t>What a reviewer sees</a:t>
            </a:r>
            <a:endParaRPr lang="en-US" sz="1200" dirty="0"/>
          </a:p>
        </p:txBody>
      </p:sp>
      <p:sp>
        <p:nvSpPr>
          <p:cNvPr id="4" name="Mock review panel"/>
          <p:cNvSpPr/>
          <p:nvPr/>
        </p:nvSpPr>
        <p:spPr>
          <a:xfrm>
            <a:off x="548640" y="1783080"/>
            <a:ext cx="5120640" cy="4297680"/>
          </a:xfrm>
          <a:prstGeom prst="roundRect">
            <a:avLst>
              <a:gd name="adj" fmla="val 2553"/>
            </a:avLst>
          </a:prstGeom>
          <a:solidFill>
            <a:schemeClr val="bg2"/>
          </a:solidFill>
          <a:ln w="12700">
            <a:solidFill>
              <a:schemeClr val="bg2"/>
            </a:solidFill>
            <a:prstDash val="solid"/>
          </a:ln>
        </p:spPr>
      </p:sp>
      <p:sp>
        <p:nvSpPr>
          <p:cNvPr id="5" name="Mock item"/>
          <p:cNvSpPr/>
          <p:nvPr/>
        </p:nvSpPr>
        <p:spPr>
          <a:xfrm>
            <a:off x="822960" y="2057400"/>
            <a:ext cx="4572000" cy="3749040"/>
          </a:xfrm>
          <a:prstGeom prst="roundRect">
            <a:avLst>
              <a:gd name="adj" fmla="val 2439"/>
            </a:avLst>
          </a:prstGeom>
          <a:solidFill>
            <a:schemeClr val="bg1"/>
          </a:solidFill>
          <a:ln w="12700">
            <a:solidFill>
              <a:schemeClr val="bg1"/>
            </a:solidFill>
            <a:prstDash val="solid"/>
          </a:ln>
        </p:spPr>
      </p:sp>
      <p:sp>
        <p:nvSpPr>
          <p:cNvPr id="6" name="Mock title"/>
          <p:cNvSpPr txBox="1"/>
          <p:nvPr/>
        </p:nvSpPr>
        <p:spPr>
          <a:xfrm>
            <a:off x="1051560" y="2240280"/>
            <a:ext cx="4114800" cy="594360"/>
          </a:xfrm>
          <a:prstGeom prst="rect">
            <a:avLst/>
          </a:prstGeom>
          <a:noFill/>
          <a:ln/>
        </p:spPr>
        <p:txBody>
          <a:bodyPr wrap="square" lIns="0" tIns="0" rIns="0" bIns="0" rtlCol="0" anchor="t"/>
          <a:lstStyle/>
          <a:p>
            <a:pPr indent="0" marL="0">
              <a:buNone/>
            </a:pPr>
            <a:r>
              <a:rPr lang="en-US" sz="1800" b="1" dirty="0">
                <a:solidFill>
                  <a:schemeClr val="tx1"/>
                </a:solidFill>
              </a:rPr>
              <a:t>Confirm payment contract renewal date</a:t>
            </a:r>
            <a:endParaRPr lang="en-US" sz="1800" dirty="0"/>
          </a:p>
        </p:txBody>
      </p:sp>
      <p:sp>
        <p:nvSpPr>
          <p:cNvPr id="7" name="Unassigned chip"/>
          <p:cNvSpPr/>
          <p:nvPr/>
        </p:nvSpPr>
        <p:spPr>
          <a:xfrm>
            <a:off x="1051560" y="2926080"/>
            <a:ext cx="1234440" cy="292608"/>
          </a:xfrm>
          <a:prstGeom prst="roundRect">
            <a:avLst>
              <a:gd name="adj" fmla="val 50000"/>
            </a:avLst>
          </a:prstGeom>
          <a:solidFill>
            <a:schemeClr val="accent2"/>
          </a:solidFill>
          <a:ln w="12700">
            <a:solidFill>
              <a:schemeClr val="accent2"/>
            </a:solidFill>
            <a:prstDash val="solid"/>
          </a:ln>
        </p:spPr>
      </p:sp>
      <p:sp>
        <p:nvSpPr>
          <p:cNvPr id="8" name="Unassigned chip text"/>
          <p:cNvSpPr txBox="1"/>
          <p:nvPr/>
        </p:nvSpPr>
        <p:spPr>
          <a:xfrm>
            <a:off x="1051560" y="2926080"/>
            <a:ext cx="1234440" cy="292608"/>
          </a:xfrm>
          <a:prstGeom prst="rect">
            <a:avLst/>
          </a:prstGeom>
          <a:noFill/>
          <a:ln/>
        </p:spPr>
        <p:txBody>
          <a:bodyPr wrap="square" lIns="0" tIns="0" rIns="0" bIns="0" rtlCol="0" anchor="ctr"/>
          <a:lstStyle/>
          <a:p>
            <a:pPr algn="ctr" indent="0" marL="0">
              <a:buNone/>
            </a:pPr>
            <a:r>
              <a:rPr lang="en-US" sz="1200" b="1" dirty="0">
                <a:solidFill>
                  <a:schemeClr val="tx1"/>
                </a:solidFill>
              </a:rPr>
              <a:t>Unassigned</a:t>
            </a:r>
            <a:endParaRPr lang="en-US" sz="1200" dirty="0"/>
          </a:p>
        </p:txBody>
      </p:sp>
      <p:sp>
        <p:nvSpPr>
          <p:cNvPr id="9" name="Needs review chip"/>
          <p:cNvSpPr/>
          <p:nvPr/>
        </p:nvSpPr>
        <p:spPr>
          <a:xfrm>
            <a:off x="2423160" y="2926080"/>
            <a:ext cx="1325880" cy="292608"/>
          </a:xfrm>
          <a:prstGeom prst="roundRect">
            <a:avLst>
              <a:gd name="adj" fmla="val 50000"/>
            </a:avLst>
          </a:prstGeom>
          <a:solidFill>
            <a:schemeClr val="accent6"/>
          </a:solidFill>
          <a:ln w="12700">
            <a:solidFill>
              <a:schemeClr val="accent6"/>
            </a:solidFill>
            <a:prstDash val="solid"/>
          </a:ln>
        </p:spPr>
      </p:sp>
      <p:sp>
        <p:nvSpPr>
          <p:cNvPr id="10" name="Needs review chip text"/>
          <p:cNvSpPr txBox="1"/>
          <p:nvPr/>
        </p:nvSpPr>
        <p:spPr>
          <a:xfrm>
            <a:off x="2423160" y="2926080"/>
            <a:ext cx="1325880" cy="292608"/>
          </a:xfrm>
          <a:prstGeom prst="rect">
            <a:avLst/>
          </a:prstGeom>
          <a:noFill/>
          <a:ln/>
        </p:spPr>
        <p:txBody>
          <a:bodyPr wrap="square" lIns="0" tIns="0" rIns="0" bIns="0" rtlCol="0" anchor="ctr"/>
          <a:lstStyle/>
          <a:p>
            <a:pPr algn="ctr" indent="0" marL="0">
              <a:buNone/>
            </a:pPr>
            <a:r>
              <a:rPr lang="en-US" sz="1200" b="1" dirty="0">
                <a:solidFill>
                  <a:schemeClr val="bg1"/>
                </a:solidFill>
              </a:rPr>
              <a:t>Needs review</a:t>
            </a:r>
            <a:endParaRPr lang="en-US" sz="1200" dirty="0"/>
          </a:p>
        </p:txBody>
      </p:sp>
      <p:sp>
        <p:nvSpPr>
          <p:cNvPr id="11" name="Mock quote"/>
          <p:cNvSpPr txBox="1"/>
          <p:nvPr/>
        </p:nvSpPr>
        <p:spPr>
          <a:xfrm>
            <a:off x="1051560" y="3429000"/>
            <a:ext cx="4114800" cy="914400"/>
          </a:xfrm>
          <a:prstGeom prst="rect">
            <a:avLst/>
          </a:prstGeom>
          <a:noFill/>
          <a:ln/>
        </p:spPr>
        <p:txBody>
          <a:bodyPr wrap="square" lIns="0" tIns="0" rIns="0" bIns="0" rtlCol="0" anchor="t"/>
          <a:lstStyle/>
          <a:p>
            <a:pPr indent="0" marL="0">
              <a:buNone/>
            </a:pPr>
            <a:r>
              <a:rPr lang="en-US" sz="1400" i="1" dirty="0">
                <a:solidFill>
                  <a:schemeClr val="tx2"/>
                </a:solidFill>
              </a:rPr>
              <a:t>“Someone needs to confirm the payment provider contract renewal date before the launch.”</a:t>
            </a:r>
            <a:endParaRPr lang="en-US" sz="1400" dirty="0"/>
          </a:p>
        </p:txBody>
      </p:sp>
      <p:sp>
        <p:nvSpPr>
          <p:cNvPr id="12" name="Mock fields"/>
          <p:cNvSpPr txBox="1"/>
          <p:nvPr/>
        </p:nvSpPr>
        <p:spPr>
          <a:xfrm>
            <a:off x="1051560" y="4434840"/>
            <a:ext cx="4114800" cy="320040"/>
          </a:xfrm>
          <a:prstGeom prst="rect">
            <a:avLst/>
          </a:prstGeom>
          <a:noFill/>
          <a:ln/>
        </p:spPr>
        <p:txBody>
          <a:bodyPr wrap="square" lIns="0" tIns="0" rIns="0" bIns="0" rtlCol="0" anchor="t"/>
          <a:lstStyle/>
          <a:p>
            <a:pPr indent="0" marL="0">
              <a:buNone/>
            </a:pPr>
            <a:r>
              <a:rPr lang="en-US" sz="1400" dirty="0">
                <a:solidFill>
                  <a:schemeClr val="tx1"/>
                </a:solidFill>
              </a:rPr>
              <a:t>Owner: none identified     Due: none stated</a:t>
            </a:r>
            <a:endParaRPr lang="en-US" sz="1400" dirty="0"/>
          </a:p>
        </p:txBody>
      </p:sp>
      <p:sp>
        <p:nvSpPr>
          <p:cNvPr id="13" name="Approve button"/>
          <p:cNvSpPr/>
          <p:nvPr/>
        </p:nvSpPr>
        <p:spPr>
          <a:xfrm>
            <a:off x="1051560" y="5074920"/>
            <a:ext cx="1280160" cy="457200"/>
          </a:xfrm>
          <a:prstGeom prst="roundRect">
            <a:avLst>
              <a:gd name="adj" fmla="val 20000"/>
            </a:avLst>
          </a:prstGeom>
          <a:solidFill>
            <a:schemeClr val="accent1"/>
          </a:solidFill>
          <a:ln w="12700">
            <a:solidFill>
              <a:schemeClr val="accent1"/>
            </a:solidFill>
            <a:prstDash val="solid"/>
          </a:ln>
        </p:spPr>
      </p:sp>
      <p:sp>
        <p:nvSpPr>
          <p:cNvPr id="14" name="Approve text"/>
          <p:cNvSpPr txBox="1"/>
          <p:nvPr/>
        </p:nvSpPr>
        <p:spPr>
          <a:xfrm>
            <a:off x="1051560" y="5074920"/>
            <a:ext cx="1280160" cy="457200"/>
          </a:xfrm>
          <a:prstGeom prst="rect">
            <a:avLst/>
          </a:prstGeom>
          <a:noFill/>
          <a:ln/>
        </p:spPr>
        <p:txBody>
          <a:bodyPr wrap="square" lIns="0" tIns="0" rIns="0" bIns="0" rtlCol="0" anchor="ctr"/>
          <a:lstStyle/>
          <a:p>
            <a:pPr algn="ctr" indent="0" marL="0">
              <a:buNone/>
            </a:pPr>
            <a:r>
              <a:rPr lang="en-US" sz="1400" b="1" dirty="0">
                <a:solidFill>
                  <a:schemeClr val="bg1"/>
                </a:solidFill>
              </a:rPr>
              <a:t>Approve</a:t>
            </a:r>
            <a:endParaRPr lang="en-US" sz="1400" dirty="0"/>
          </a:p>
        </p:txBody>
      </p:sp>
      <p:sp>
        <p:nvSpPr>
          <p:cNvPr id="15" name="Reject button"/>
          <p:cNvSpPr/>
          <p:nvPr/>
        </p:nvSpPr>
        <p:spPr>
          <a:xfrm>
            <a:off x="2468880" y="5074920"/>
            <a:ext cx="1280160" cy="457200"/>
          </a:xfrm>
          <a:prstGeom prst="roundRect">
            <a:avLst>
              <a:gd name="adj" fmla="val 20000"/>
            </a:avLst>
          </a:prstGeom>
          <a:solidFill>
            <a:schemeClr val="bg1"/>
          </a:solidFill>
          <a:ln w="12700">
            <a:solidFill>
              <a:schemeClr val="tx2"/>
            </a:solidFill>
            <a:prstDash val="solid"/>
          </a:ln>
        </p:spPr>
      </p:sp>
      <p:sp>
        <p:nvSpPr>
          <p:cNvPr id="16" name="Reject text"/>
          <p:cNvSpPr txBox="1"/>
          <p:nvPr/>
        </p:nvSpPr>
        <p:spPr>
          <a:xfrm>
            <a:off x="2468880" y="5074920"/>
            <a:ext cx="1280160" cy="457200"/>
          </a:xfrm>
          <a:prstGeom prst="rect">
            <a:avLst/>
          </a:prstGeom>
          <a:noFill/>
          <a:ln/>
        </p:spPr>
        <p:txBody>
          <a:bodyPr wrap="square" lIns="0" tIns="0" rIns="0" bIns="0" rtlCol="0" anchor="ctr"/>
          <a:lstStyle/>
          <a:p>
            <a:pPr algn="ctr" indent="0" marL="0">
              <a:buNone/>
            </a:pPr>
            <a:r>
              <a:rPr lang="en-US" sz="1400" b="1" dirty="0">
                <a:solidFill>
                  <a:schemeClr val="tx1"/>
                </a:solidFill>
              </a:rPr>
              <a:t>Reject</a:t>
            </a:r>
            <a:endParaRPr lang="en-US" sz="1400" dirty="0"/>
          </a:p>
        </p:txBody>
      </p:sp>
      <p:sp>
        <p:nvSpPr>
          <p:cNvPr id="17" name="Safeguard 1 circle"/>
          <p:cNvSpPr/>
          <p:nvPr/>
        </p:nvSpPr>
        <p:spPr>
          <a:xfrm>
            <a:off x="6263640" y="1600200"/>
            <a:ext cx="548640" cy="548640"/>
          </a:xfrm>
          <a:prstGeom prst="ellipse">
            <a:avLst/>
          </a:prstGeom>
          <a:solidFill>
            <a:schemeClr val="accent5"/>
          </a:solidFill>
          <a:ln w="12700">
            <a:solidFill>
              <a:schemeClr val="accent5"/>
            </a:solidFill>
            <a:prstDash val="solid"/>
          </a:ln>
        </p:spPr>
      </p:sp>
      <p:pic>
        <p:nvPicPr>
          <p:cNvPr id="18" name="Safeguard 1 icon" descr="Safeguard 1">    </p:cNvPr>
          <p:cNvPicPr>
            <a:picLocks noChangeAspect="1"/>
          </p:cNvPicPr>
          <p:nvPr/>
        </p:nvPicPr>
        <p:blipFill>
          <a:blip r:embed="rId1"/>
          <a:stretch>
            <a:fillRect/>
          </a:stretch>
        </p:blipFill>
        <p:spPr>
          <a:xfrm>
            <a:off x="6411773" y="1748333"/>
            <a:ext cx="252374" cy="252374"/>
          </a:xfrm>
          <a:prstGeom prst="rect">
            <a:avLst/>
          </a:prstGeom>
        </p:spPr>
      </p:pic>
      <p:sp>
        <p:nvSpPr>
          <p:cNvPr id="19" name="Safeguard text 1"/>
          <p:cNvSpPr txBox="1"/>
          <p:nvPr/>
        </p:nvSpPr>
        <p:spPr>
          <a:xfrm>
            <a:off x="7040880" y="1508760"/>
            <a:ext cx="4602175" cy="777240"/>
          </a:xfrm>
          <a:prstGeom prst="rect">
            <a:avLst/>
          </a:prstGeom>
          <a:noFill/>
          <a:ln/>
        </p:spPr>
        <p:txBody>
          <a:bodyPr wrap="square" lIns="0" tIns="0" rIns="0" bIns="0" rtlCol="0" anchor="ctr"/>
          <a:lstStyle/>
          <a:p>
            <a:pPr indent="0" marL="0">
              <a:buNone/>
            </a:pPr>
            <a:r>
              <a:rPr lang="en-US" sz="1600" b="1" dirty="0">
                <a:solidFill>
                  <a:schemeClr val="tx1"/>
                </a:solidFill>
              </a:rPr>
              <a:t>Never invents.</a:t>
            </a:r>
            <a:pPr indent="0" marL="0">
              <a:buNone/>
            </a:pPr>
            <a:r>
              <a:rPr lang="en-US" sz="1600" dirty="0">
                <a:solidFill>
                  <a:schemeClr val="tx1"/>
                </a:solidFill>
              </a:rPr>
              <a:t> Unknown owners show as Unassigned; missing deadlines stay empty.</a:t>
            </a:r>
            <a:endParaRPr lang="en-US" sz="1600" dirty="0"/>
          </a:p>
        </p:txBody>
      </p:sp>
      <p:sp>
        <p:nvSpPr>
          <p:cNvPr id="20" name="Safeguard 2 circle"/>
          <p:cNvSpPr/>
          <p:nvPr/>
        </p:nvSpPr>
        <p:spPr>
          <a:xfrm>
            <a:off x="6263640" y="2532888"/>
            <a:ext cx="548640" cy="548640"/>
          </a:xfrm>
          <a:prstGeom prst="ellipse">
            <a:avLst/>
          </a:prstGeom>
          <a:solidFill>
            <a:schemeClr val="accent5"/>
          </a:solidFill>
          <a:ln w="12700">
            <a:solidFill>
              <a:schemeClr val="accent5"/>
            </a:solidFill>
            <a:prstDash val="solid"/>
          </a:ln>
        </p:spPr>
      </p:sp>
      <p:pic>
        <p:nvPicPr>
          <p:cNvPr id="21" name="Safeguard 2 icon" descr="Safeguard 2">    </p:cNvPr>
          <p:cNvPicPr>
            <a:picLocks noChangeAspect="1"/>
          </p:cNvPicPr>
          <p:nvPr/>
        </p:nvPicPr>
        <p:blipFill>
          <a:blip r:embed="rId2"/>
          <a:stretch>
            <a:fillRect/>
          </a:stretch>
        </p:blipFill>
        <p:spPr>
          <a:xfrm>
            <a:off x="6411773" y="2681021"/>
            <a:ext cx="252374" cy="252374"/>
          </a:xfrm>
          <a:prstGeom prst="rect">
            <a:avLst/>
          </a:prstGeom>
        </p:spPr>
      </p:pic>
      <p:sp>
        <p:nvSpPr>
          <p:cNvPr id="22" name="Safeguard text 2"/>
          <p:cNvSpPr txBox="1"/>
          <p:nvPr/>
        </p:nvSpPr>
        <p:spPr>
          <a:xfrm>
            <a:off x="7040880" y="2441448"/>
            <a:ext cx="4602175" cy="777240"/>
          </a:xfrm>
          <a:prstGeom prst="rect">
            <a:avLst/>
          </a:prstGeom>
          <a:noFill/>
          <a:ln/>
        </p:spPr>
        <p:txBody>
          <a:bodyPr wrap="square" lIns="0" tIns="0" rIns="0" bIns="0" rtlCol="0" anchor="ctr"/>
          <a:lstStyle/>
          <a:p>
            <a:pPr indent="0" marL="0">
              <a:buNone/>
            </a:pPr>
            <a:r>
              <a:rPr lang="en-US" sz="1600" b="1" dirty="0">
                <a:solidFill>
                  <a:schemeClr val="tx1"/>
                </a:solidFill>
              </a:rPr>
              <a:t>Always traceable.</a:t>
            </a:r>
            <a:pPr indent="0" marL="0">
              <a:buNone/>
            </a:pPr>
            <a:r>
              <a:rPr lang="en-US" sz="1600" dirty="0">
                <a:solidFill>
                  <a:schemeClr val="tx1"/>
                </a:solidFill>
              </a:rPr>
              <a:t> Every item keeps the exact transcript sentence it came from.</a:t>
            </a:r>
            <a:endParaRPr lang="en-US" sz="1600" dirty="0"/>
          </a:p>
        </p:txBody>
      </p:sp>
      <p:sp>
        <p:nvSpPr>
          <p:cNvPr id="23" name="Safeguard 3 circle"/>
          <p:cNvSpPr/>
          <p:nvPr/>
        </p:nvSpPr>
        <p:spPr>
          <a:xfrm>
            <a:off x="6263640" y="3465576"/>
            <a:ext cx="548640" cy="548640"/>
          </a:xfrm>
          <a:prstGeom prst="ellipse">
            <a:avLst/>
          </a:prstGeom>
          <a:solidFill>
            <a:schemeClr val="accent5"/>
          </a:solidFill>
          <a:ln w="12700">
            <a:solidFill>
              <a:schemeClr val="accent5"/>
            </a:solidFill>
            <a:prstDash val="solid"/>
          </a:ln>
        </p:spPr>
      </p:sp>
      <p:pic>
        <p:nvPicPr>
          <p:cNvPr id="24" name="Safeguard 3 icon" descr="Safeguard 3">    </p:cNvPr>
          <p:cNvPicPr>
            <a:picLocks noChangeAspect="1"/>
          </p:cNvPicPr>
          <p:nvPr/>
        </p:nvPicPr>
        <p:blipFill>
          <a:blip r:embed="rId3"/>
          <a:stretch>
            <a:fillRect/>
          </a:stretch>
        </p:blipFill>
        <p:spPr>
          <a:xfrm>
            <a:off x="6411773" y="3613709"/>
            <a:ext cx="252374" cy="252374"/>
          </a:xfrm>
          <a:prstGeom prst="rect">
            <a:avLst/>
          </a:prstGeom>
        </p:spPr>
      </p:pic>
      <p:sp>
        <p:nvSpPr>
          <p:cNvPr id="25" name="Safeguard text 3"/>
          <p:cNvSpPr txBox="1"/>
          <p:nvPr/>
        </p:nvSpPr>
        <p:spPr>
          <a:xfrm>
            <a:off x="7040880" y="3374136"/>
            <a:ext cx="4602175" cy="777240"/>
          </a:xfrm>
          <a:prstGeom prst="rect">
            <a:avLst/>
          </a:prstGeom>
          <a:noFill/>
          <a:ln/>
        </p:spPr>
        <p:txBody>
          <a:bodyPr wrap="square" lIns="0" tIns="0" rIns="0" bIns="0" rtlCol="0" anchor="ctr"/>
          <a:lstStyle/>
          <a:p>
            <a:pPr indent="0" marL="0">
              <a:buNone/>
            </a:pPr>
            <a:r>
              <a:rPr lang="en-US" sz="1600" b="1" dirty="0">
                <a:solidFill>
                  <a:schemeClr val="tx1"/>
                </a:solidFill>
              </a:rPr>
              <a:t>Ideas are not decisions.</a:t>
            </a:r>
            <a:pPr indent="0" marL="0">
              <a:buNone/>
            </a:pPr>
            <a:r>
              <a:rPr lang="en-US" sz="1600" dirty="0">
                <a:solidFill>
                  <a:schemeClr val="tx1"/>
                </a:solidFill>
              </a:rPr>
              <a:t> Hedged talk (“maybe we could…”) is not recorded as agreed.</a:t>
            </a:r>
            <a:endParaRPr lang="en-US" sz="1600" dirty="0"/>
          </a:p>
        </p:txBody>
      </p:sp>
      <p:sp>
        <p:nvSpPr>
          <p:cNvPr id="26" name="Safeguard 4 circle"/>
          <p:cNvSpPr/>
          <p:nvPr/>
        </p:nvSpPr>
        <p:spPr>
          <a:xfrm>
            <a:off x="6263640" y="4398264"/>
            <a:ext cx="548640" cy="548640"/>
          </a:xfrm>
          <a:prstGeom prst="ellipse">
            <a:avLst/>
          </a:prstGeom>
          <a:solidFill>
            <a:schemeClr val="accent5"/>
          </a:solidFill>
          <a:ln w="12700">
            <a:solidFill>
              <a:schemeClr val="accent5"/>
            </a:solidFill>
            <a:prstDash val="solid"/>
          </a:ln>
        </p:spPr>
      </p:sp>
      <p:pic>
        <p:nvPicPr>
          <p:cNvPr id="27" name="Safeguard 4 icon" descr="Safeguard 4">    </p:cNvPr>
          <p:cNvPicPr>
            <a:picLocks noChangeAspect="1"/>
          </p:cNvPicPr>
          <p:nvPr/>
        </p:nvPicPr>
        <p:blipFill>
          <a:blip r:embed="rId4"/>
          <a:stretch>
            <a:fillRect/>
          </a:stretch>
        </p:blipFill>
        <p:spPr>
          <a:xfrm>
            <a:off x="6411773" y="4546397"/>
            <a:ext cx="252374" cy="252374"/>
          </a:xfrm>
          <a:prstGeom prst="rect">
            <a:avLst/>
          </a:prstGeom>
        </p:spPr>
      </p:pic>
      <p:sp>
        <p:nvSpPr>
          <p:cNvPr id="28" name="Safeguard text 4"/>
          <p:cNvSpPr txBox="1"/>
          <p:nvPr/>
        </p:nvSpPr>
        <p:spPr>
          <a:xfrm>
            <a:off x="7040880" y="4306824"/>
            <a:ext cx="4602175" cy="777240"/>
          </a:xfrm>
          <a:prstGeom prst="rect">
            <a:avLst/>
          </a:prstGeom>
          <a:noFill/>
          <a:ln/>
        </p:spPr>
        <p:txBody>
          <a:bodyPr wrap="square" lIns="0" tIns="0" rIns="0" bIns="0" rtlCol="0" anchor="ctr"/>
          <a:lstStyle/>
          <a:p>
            <a:pPr indent="0" marL="0">
              <a:buNone/>
            </a:pPr>
            <a:r>
              <a:rPr lang="en-US" sz="1600" b="1" dirty="0">
                <a:solidFill>
                  <a:schemeClr val="tx1"/>
                </a:solidFill>
              </a:rPr>
              <a:t>Checked before saved.</a:t>
            </a:r>
            <a:pPr indent="0" marL="0">
              <a:buNone/>
            </a:pPr>
            <a:r>
              <a:rPr lang="en-US" sz="1600" dirty="0">
                <a:solidFill>
                  <a:schemeClr val="tx1"/>
                </a:solidFill>
              </a:rPr>
              <a:t> Malformed or unverifiable AI output is flagged or rejected.</a:t>
            </a:r>
            <a:endParaRPr lang="en-US" sz="1600" dirty="0"/>
          </a:p>
        </p:txBody>
      </p:sp>
      <p:sp>
        <p:nvSpPr>
          <p:cNvPr id="29" name="Safeguard 5 circle"/>
          <p:cNvSpPr/>
          <p:nvPr/>
        </p:nvSpPr>
        <p:spPr>
          <a:xfrm>
            <a:off x="6263640" y="5330952"/>
            <a:ext cx="548640" cy="548640"/>
          </a:xfrm>
          <a:prstGeom prst="ellipse">
            <a:avLst/>
          </a:prstGeom>
          <a:solidFill>
            <a:schemeClr val="accent5"/>
          </a:solidFill>
          <a:ln w="12700">
            <a:solidFill>
              <a:schemeClr val="accent5"/>
            </a:solidFill>
            <a:prstDash val="solid"/>
          </a:ln>
        </p:spPr>
      </p:sp>
      <p:pic>
        <p:nvPicPr>
          <p:cNvPr id="30" name="Safeguard 5 icon" descr="Safeguard 5">    </p:cNvPr>
          <p:cNvPicPr>
            <a:picLocks noChangeAspect="1"/>
          </p:cNvPicPr>
          <p:nvPr/>
        </p:nvPicPr>
        <p:blipFill>
          <a:blip r:embed="rId5"/>
          <a:stretch>
            <a:fillRect/>
          </a:stretch>
        </p:blipFill>
        <p:spPr>
          <a:xfrm>
            <a:off x="6411773" y="5479085"/>
            <a:ext cx="252374" cy="252374"/>
          </a:xfrm>
          <a:prstGeom prst="rect">
            <a:avLst/>
          </a:prstGeom>
        </p:spPr>
      </p:pic>
      <p:sp>
        <p:nvSpPr>
          <p:cNvPr id="31" name="Safeguard text 5"/>
          <p:cNvSpPr txBox="1"/>
          <p:nvPr/>
        </p:nvSpPr>
        <p:spPr>
          <a:xfrm>
            <a:off x="7040880" y="5239512"/>
            <a:ext cx="4602175" cy="777240"/>
          </a:xfrm>
          <a:prstGeom prst="rect">
            <a:avLst/>
          </a:prstGeom>
          <a:noFill/>
          <a:ln/>
        </p:spPr>
        <p:txBody>
          <a:bodyPr wrap="square" lIns="0" tIns="0" rIns="0" bIns="0" rtlCol="0" anchor="ctr"/>
          <a:lstStyle/>
          <a:p>
            <a:pPr indent="0" marL="0">
              <a:buNone/>
            </a:pPr>
            <a:r>
              <a:rPr lang="en-US" sz="1600" b="1" dirty="0">
                <a:solidFill>
                  <a:schemeClr val="tx1"/>
                </a:solidFill>
              </a:rPr>
              <a:t>Private by design.</a:t>
            </a:r>
            <a:pPr indent="0" marL="0">
              <a:buNone/>
            </a:pPr>
            <a:r>
              <a:rPr lang="en-US" sz="1600" dirty="0">
                <a:solidFill>
                  <a:schemeClr val="tx1"/>
                </a:solidFill>
              </a:rPr>
              <a:t> API keys stay on the server; transcript text is escaped on screen.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Live demo, step by step</a:t>
            </a:r>
            <a:endParaRPr lang="en-US" sz="3400" dirty="0"/>
          </a:p>
        </p:txBody>
      </p:sp>
      <p:sp>
        <p:nvSpPr>
          <p:cNvPr id="3" name="Demo card 1"/>
          <p:cNvSpPr/>
          <p:nvPr/>
        </p:nvSpPr>
        <p:spPr>
          <a:xfrm>
            <a:off x="548640" y="1508760"/>
            <a:ext cx="2560320" cy="2103120"/>
          </a:xfrm>
          <a:prstGeom prst="roundRect">
            <a:avLst>
              <a:gd name="adj" fmla="val 5217"/>
            </a:avLst>
          </a:prstGeom>
          <a:solidFill>
            <a:schemeClr val="bg2"/>
          </a:solidFill>
          <a:ln w="12700">
            <a:solidFill>
              <a:schemeClr val="bg2"/>
            </a:solidFill>
            <a:prstDash val="solid"/>
          </a:ln>
        </p:spPr>
      </p:sp>
      <p:sp>
        <p:nvSpPr>
          <p:cNvPr id="4" name="Demo step 1"/>
          <p:cNvSpPr/>
          <p:nvPr/>
        </p:nvSpPr>
        <p:spPr>
          <a:xfrm>
            <a:off x="822960" y="1737360"/>
            <a:ext cx="548640" cy="548640"/>
          </a:xfrm>
          <a:prstGeom prst="ellipse">
            <a:avLst/>
          </a:prstGeom>
          <a:solidFill>
            <a:schemeClr val="accent1"/>
          </a:solidFill>
          <a:ln w="12700">
            <a:solidFill>
              <a:schemeClr val="accent1"/>
            </a:solidFill>
            <a:prstDash val="solid"/>
          </a:ln>
        </p:spPr>
      </p:sp>
      <p:sp>
        <p:nvSpPr>
          <p:cNvPr id="5" name="Demo step 1 number"/>
          <p:cNvSpPr txBox="1"/>
          <p:nvPr/>
        </p:nvSpPr>
        <p:spPr>
          <a:xfrm>
            <a:off x="822960"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Demo heading 1"/>
          <p:cNvSpPr txBox="1"/>
          <p:nvPr/>
        </p:nvSpPr>
        <p:spPr>
          <a:xfrm>
            <a:off x="822960" y="2377440"/>
            <a:ext cx="2011680" cy="365760"/>
          </a:xfrm>
          <a:prstGeom prst="rect">
            <a:avLst/>
          </a:prstGeom>
          <a:noFill/>
          <a:ln/>
        </p:spPr>
        <p:txBody>
          <a:bodyPr wrap="square" lIns="0" tIns="0" rIns="0" bIns="0" rtlCol="0" anchor="t"/>
          <a:lstStyle/>
          <a:p>
            <a:pPr indent="0" marL="0">
              <a:buNone/>
            </a:pPr>
            <a:r>
              <a:rPr lang="en-US" sz="1900" b="1" dirty="0">
                <a:solidFill>
                  <a:schemeClr val="tx1"/>
                </a:solidFill>
              </a:rPr>
              <a:t>Load sample</a:t>
            </a:r>
            <a:endParaRPr lang="en-US" sz="1900" dirty="0"/>
          </a:p>
        </p:txBody>
      </p:sp>
      <p:sp>
        <p:nvSpPr>
          <p:cNvPr id="7" name="Demo body 1"/>
          <p:cNvSpPr txBox="1"/>
          <p:nvPr/>
        </p:nvSpPr>
        <p:spPr>
          <a:xfrm>
            <a:off x="822960" y="2788920"/>
            <a:ext cx="2011680" cy="731520"/>
          </a:xfrm>
          <a:prstGeom prst="rect">
            <a:avLst/>
          </a:prstGeom>
          <a:noFill/>
          <a:ln/>
        </p:spPr>
        <p:txBody>
          <a:bodyPr wrap="square" lIns="0" tIns="0" rIns="0" bIns="0" rtlCol="0" anchor="t"/>
          <a:lstStyle/>
          <a:p>
            <a:pPr indent="0" marL="0">
              <a:buNone/>
            </a:pPr>
            <a:r>
              <a:rPr lang="en-US" sz="1400" dirty="0">
                <a:solidFill>
                  <a:schemeClr val="tx2"/>
                </a:solidFill>
              </a:rPr>
              <a:t>One click loads a fictional product-sync transcript.</a:t>
            </a:r>
            <a:endParaRPr lang="en-US" sz="1400" dirty="0"/>
          </a:p>
        </p:txBody>
      </p:sp>
      <p:sp>
        <p:nvSpPr>
          <p:cNvPr id="8" name="Demo card 2"/>
          <p:cNvSpPr/>
          <p:nvPr/>
        </p:nvSpPr>
        <p:spPr>
          <a:xfrm>
            <a:off x="3393338" y="1508760"/>
            <a:ext cx="2560320" cy="2103120"/>
          </a:xfrm>
          <a:prstGeom prst="roundRect">
            <a:avLst>
              <a:gd name="adj" fmla="val 5217"/>
            </a:avLst>
          </a:prstGeom>
          <a:solidFill>
            <a:schemeClr val="bg2"/>
          </a:solidFill>
          <a:ln w="12700">
            <a:solidFill>
              <a:schemeClr val="bg2"/>
            </a:solidFill>
            <a:prstDash val="solid"/>
          </a:ln>
        </p:spPr>
      </p:sp>
      <p:sp>
        <p:nvSpPr>
          <p:cNvPr id="9" name="Demo step 2"/>
          <p:cNvSpPr/>
          <p:nvPr/>
        </p:nvSpPr>
        <p:spPr>
          <a:xfrm>
            <a:off x="3667658" y="1737360"/>
            <a:ext cx="548640" cy="548640"/>
          </a:xfrm>
          <a:prstGeom prst="ellipse">
            <a:avLst/>
          </a:prstGeom>
          <a:solidFill>
            <a:schemeClr val="accent1"/>
          </a:solidFill>
          <a:ln w="12700">
            <a:solidFill>
              <a:schemeClr val="accent1"/>
            </a:solidFill>
            <a:prstDash val="solid"/>
          </a:ln>
        </p:spPr>
      </p:sp>
      <p:sp>
        <p:nvSpPr>
          <p:cNvPr id="10" name="Demo step 2 number"/>
          <p:cNvSpPr txBox="1"/>
          <p:nvPr/>
        </p:nvSpPr>
        <p:spPr>
          <a:xfrm>
            <a:off x="3667658"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Demo heading 2"/>
          <p:cNvSpPr txBox="1"/>
          <p:nvPr/>
        </p:nvSpPr>
        <p:spPr>
          <a:xfrm>
            <a:off x="3667658" y="2377440"/>
            <a:ext cx="2011680" cy="365760"/>
          </a:xfrm>
          <a:prstGeom prst="rect">
            <a:avLst/>
          </a:prstGeom>
          <a:noFill/>
          <a:ln/>
        </p:spPr>
        <p:txBody>
          <a:bodyPr wrap="square" lIns="0" tIns="0" rIns="0" bIns="0" rtlCol="0" anchor="t"/>
          <a:lstStyle/>
          <a:p>
            <a:pPr indent="0" marL="0">
              <a:buNone/>
            </a:pPr>
            <a:r>
              <a:rPr lang="en-US" sz="1900" b="1" dirty="0">
                <a:solidFill>
                  <a:schemeClr val="tx1"/>
                </a:solidFill>
              </a:rPr>
              <a:t>Analyze</a:t>
            </a:r>
            <a:endParaRPr lang="en-US" sz="1900" dirty="0"/>
          </a:p>
        </p:txBody>
      </p:sp>
      <p:sp>
        <p:nvSpPr>
          <p:cNvPr id="12" name="Demo body 2"/>
          <p:cNvSpPr txBox="1"/>
          <p:nvPr/>
        </p:nvSpPr>
        <p:spPr>
          <a:xfrm>
            <a:off x="3667658" y="2788920"/>
            <a:ext cx="2011680" cy="731520"/>
          </a:xfrm>
          <a:prstGeom prst="rect">
            <a:avLst/>
          </a:prstGeom>
          <a:noFill/>
          <a:ln/>
        </p:spPr>
        <p:txBody>
          <a:bodyPr wrap="square" lIns="0" tIns="0" rIns="0" bIns="0" rtlCol="0" anchor="t"/>
          <a:lstStyle/>
          <a:p>
            <a:pPr indent="0" marL="0">
              <a:buNone/>
            </a:pPr>
            <a:r>
              <a:rPr lang="en-US" sz="1400" dirty="0">
                <a:solidFill>
                  <a:schemeClr val="tx2"/>
                </a:solidFill>
              </a:rPr>
              <a:t>Summary, decisions and action items appear on screen.</a:t>
            </a:r>
            <a:endParaRPr lang="en-US" sz="1400" dirty="0"/>
          </a:p>
        </p:txBody>
      </p:sp>
      <p:sp>
        <p:nvSpPr>
          <p:cNvPr id="13" name="Demo card 3"/>
          <p:cNvSpPr/>
          <p:nvPr/>
        </p:nvSpPr>
        <p:spPr>
          <a:xfrm>
            <a:off x="6238037" y="1508760"/>
            <a:ext cx="2560320" cy="2103120"/>
          </a:xfrm>
          <a:prstGeom prst="roundRect">
            <a:avLst>
              <a:gd name="adj" fmla="val 5217"/>
            </a:avLst>
          </a:prstGeom>
          <a:solidFill>
            <a:schemeClr val="bg2"/>
          </a:solidFill>
          <a:ln w="12700">
            <a:solidFill>
              <a:schemeClr val="bg2"/>
            </a:solidFill>
            <a:prstDash val="solid"/>
          </a:ln>
        </p:spPr>
      </p:sp>
      <p:sp>
        <p:nvSpPr>
          <p:cNvPr id="14" name="Demo step 3"/>
          <p:cNvSpPr/>
          <p:nvPr/>
        </p:nvSpPr>
        <p:spPr>
          <a:xfrm>
            <a:off x="6512357" y="1737360"/>
            <a:ext cx="548640" cy="548640"/>
          </a:xfrm>
          <a:prstGeom prst="ellipse">
            <a:avLst/>
          </a:prstGeom>
          <a:solidFill>
            <a:schemeClr val="accent1"/>
          </a:solidFill>
          <a:ln w="12700">
            <a:solidFill>
              <a:schemeClr val="accent1"/>
            </a:solidFill>
            <a:prstDash val="solid"/>
          </a:ln>
        </p:spPr>
      </p:sp>
      <p:sp>
        <p:nvSpPr>
          <p:cNvPr id="15" name="Demo step 3 number"/>
          <p:cNvSpPr txBox="1"/>
          <p:nvPr/>
        </p:nvSpPr>
        <p:spPr>
          <a:xfrm>
            <a:off x="6512357"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Demo heading 3"/>
          <p:cNvSpPr txBox="1"/>
          <p:nvPr/>
        </p:nvSpPr>
        <p:spPr>
          <a:xfrm>
            <a:off x="6512357" y="2377440"/>
            <a:ext cx="2011680" cy="365760"/>
          </a:xfrm>
          <a:prstGeom prst="rect">
            <a:avLst/>
          </a:prstGeom>
          <a:noFill/>
          <a:ln/>
        </p:spPr>
        <p:txBody>
          <a:bodyPr wrap="square" lIns="0" tIns="0" rIns="0" bIns="0" rtlCol="0" anchor="t"/>
          <a:lstStyle/>
          <a:p>
            <a:pPr indent="0" marL="0">
              <a:buNone/>
            </a:pPr>
            <a:r>
              <a:rPr lang="en-US" sz="1900" b="1" dirty="0">
                <a:solidFill>
                  <a:schemeClr val="tx1"/>
                </a:solidFill>
              </a:rPr>
              <a:t>Check flags</a:t>
            </a:r>
            <a:endParaRPr lang="en-US" sz="1900" dirty="0"/>
          </a:p>
        </p:txBody>
      </p:sp>
      <p:sp>
        <p:nvSpPr>
          <p:cNvPr id="17" name="Demo body 3"/>
          <p:cNvSpPr txBox="1"/>
          <p:nvPr/>
        </p:nvSpPr>
        <p:spPr>
          <a:xfrm>
            <a:off x="6512357" y="2788920"/>
            <a:ext cx="2011680" cy="731520"/>
          </a:xfrm>
          <a:prstGeom prst="rect">
            <a:avLst/>
          </a:prstGeom>
          <a:noFill/>
          <a:ln/>
        </p:spPr>
        <p:txBody>
          <a:bodyPr wrap="square" lIns="0" tIns="0" rIns="0" bIns="0" rtlCol="0" anchor="t"/>
          <a:lstStyle/>
          <a:p>
            <a:pPr indent="0" marL="0">
              <a:buNone/>
            </a:pPr>
            <a:r>
              <a:rPr lang="en-US" sz="1400" dirty="0">
                <a:solidFill>
                  <a:schemeClr val="tx2"/>
                </a:solidFill>
              </a:rPr>
              <a:t>Red flags mark missing owners and unclear dates. Open the evidence.</a:t>
            </a:r>
            <a:endParaRPr lang="en-US" sz="1400" dirty="0"/>
          </a:p>
        </p:txBody>
      </p:sp>
      <p:sp>
        <p:nvSpPr>
          <p:cNvPr id="18" name="Demo card 4"/>
          <p:cNvSpPr/>
          <p:nvPr/>
        </p:nvSpPr>
        <p:spPr>
          <a:xfrm>
            <a:off x="9082735" y="1508760"/>
            <a:ext cx="2560320" cy="2103120"/>
          </a:xfrm>
          <a:prstGeom prst="roundRect">
            <a:avLst>
              <a:gd name="adj" fmla="val 5217"/>
            </a:avLst>
          </a:prstGeom>
          <a:solidFill>
            <a:schemeClr val="bg2"/>
          </a:solidFill>
          <a:ln w="12700">
            <a:solidFill>
              <a:schemeClr val="bg2"/>
            </a:solidFill>
            <a:prstDash val="solid"/>
          </a:ln>
        </p:spPr>
      </p:sp>
      <p:sp>
        <p:nvSpPr>
          <p:cNvPr id="19" name="Demo step 4"/>
          <p:cNvSpPr/>
          <p:nvPr/>
        </p:nvSpPr>
        <p:spPr>
          <a:xfrm>
            <a:off x="9357055" y="1737360"/>
            <a:ext cx="548640" cy="548640"/>
          </a:xfrm>
          <a:prstGeom prst="ellipse">
            <a:avLst/>
          </a:prstGeom>
          <a:solidFill>
            <a:schemeClr val="accent1"/>
          </a:solidFill>
          <a:ln w="12700">
            <a:solidFill>
              <a:schemeClr val="accent1"/>
            </a:solidFill>
            <a:prstDash val="solid"/>
          </a:ln>
        </p:spPr>
      </p:sp>
      <p:sp>
        <p:nvSpPr>
          <p:cNvPr id="20" name="Demo step 4 number"/>
          <p:cNvSpPr txBox="1"/>
          <p:nvPr/>
        </p:nvSpPr>
        <p:spPr>
          <a:xfrm>
            <a:off x="9357055"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Demo heading 4"/>
          <p:cNvSpPr txBox="1"/>
          <p:nvPr/>
        </p:nvSpPr>
        <p:spPr>
          <a:xfrm>
            <a:off x="9357055" y="2377440"/>
            <a:ext cx="2011680" cy="365760"/>
          </a:xfrm>
          <a:prstGeom prst="rect">
            <a:avLst/>
          </a:prstGeom>
          <a:noFill/>
          <a:ln/>
        </p:spPr>
        <p:txBody>
          <a:bodyPr wrap="square" lIns="0" tIns="0" rIns="0" bIns="0" rtlCol="0" anchor="t"/>
          <a:lstStyle/>
          <a:p>
            <a:pPr indent="0" marL="0">
              <a:buNone/>
            </a:pPr>
            <a:r>
              <a:rPr lang="en-US" sz="1900" b="1" dirty="0">
                <a:solidFill>
                  <a:schemeClr val="tx1"/>
                </a:solidFill>
              </a:rPr>
              <a:t>Fix and reject</a:t>
            </a:r>
            <a:endParaRPr lang="en-US" sz="1900" dirty="0"/>
          </a:p>
        </p:txBody>
      </p:sp>
      <p:sp>
        <p:nvSpPr>
          <p:cNvPr id="22" name="Demo body 4"/>
          <p:cNvSpPr txBox="1"/>
          <p:nvPr/>
        </p:nvSpPr>
        <p:spPr>
          <a:xfrm>
            <a:off x="9357055" y="2788920"/>
            <a:ext cx="2011680" cy="731520"/>
          </a:xfrm>
          <a:prstGeom prst="rect">
            <a:avLst/>
          </a:prstGeom>
          <a:noFill/>
          <a:ln/>
        </p:spPr>
        <p:txBody>
          <a:bodyPr wrap="square" lIns="0" tIns="0" rIns="0" bIns="0" rtlCol="0" anchor="t"/>
          <a:lstStyle/>
          <a:p>
            <a:pPr indent="0" marL="0">
              <a:buNone/>
            </a:pPr>
            <a:r>
              <a:rPr lang="en-US" sz="1400" dirty="0">
                <a:solidFill>
                  <a:schemeClr val="tx2"/>
                </a:solidFill>
              </a:rPr>
              <a:t>Assign an owner, add a deadline, reject what is not real.</a:t>
            </a:r>
            <a:endParaRPr lang="en-US" sz="1400" dirty="0"/>
          </a:p>
        </p:txBody>
      </p:sp>
      <p:sp>
        <p:nvSpPr>
          <p:cNvPr id="23" name="Demo card 5"/>
          <p:cNvSpPr/>
          <p:nvPr/>
        </p:nvSpPr>
        <p:spPr>
          <a:xfrm>
            <a:off x="548640" y="3886200"/>
            <a:ext cx="2560320" cy="2103120"/>
          </a:xfrm>
          <a:prstGeom prst="roundRect">
            <a:avLst>
              <a:gd name="adj" fmla="val 5217"/>
            </a:avLst>
          </a:prstGeom>
          <a:solidFill>
            <a:schemeClr val="bg2"/>
          </a:solidFill>
          <a:ln w="12700">
            <a:solidFill>
              <a:schemeClr val="bg2"/>
            </a:solidFill>
            <a:prstDash val="solid"/>
          </a:ln>
        </p:spPr>
      </p:sp>
      <p:sp>
        <p:nvSpPr>
          <p:cNvPr id="24" name="Demo step 5"/>
          <p:cNvSpPr/>
          <p:nvPr/>
        </p:nvSpPr>
        <p:spPr>
          <a:xfrm>
            <a:off x="822960" y="4114800"/>
            <a:ext cx="548640" cy="548640"/>
          </a:xfrm>
          <a:prstGeom prst="ellipse">
            <a:avLst/>
          </a:prstGeom>
          <a:solidFill>
            <a:schemeClr val="accent2"/>
          </a:solidFill>
          <a:ln w="12700">
            <a:solidFill>
              <a:schemeClr val="accent2"/>
            </a:solidFill>
            <a:prstDash val="solid"/>
          </a:ln>
        </p:spPr>
      </p:sp>
      <p:sp>
        <p:nvSpPr>
          <p:cNvPr id="25" name="Demo step 5 number"/>
          <p:cNvSpPr txBox="1"/>
          <p:nvPr/>
        </p:nvSpPr>
        <p:spPr>
          <a:xfrm>
            <a:off x="822960" y="4114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Demo heading 5"/>
          <p:cNvSpPr txBox="1"/>
          <p:nvPr/>
        </p:nvSpPr>
        <p:spPr>
          <a:xfrm>
            <a:off x="822960" y="4754880"/>
            <a:ext cx="2011680" cy="365760"/>
          </a:xfrm>
          <a:prstGeom prst="rect">
            <a:avLst/>
          </a:prstGeom>
          <a:noFill/>
          <a:ln/>
        </p:spPr>
        <p:txBody>
          <a:bodyPr wrap="square" lIns="0" tIns="0" rIns="0" bIns="0" rtlCol="0" anchor="t"/>
          <a:lstStyle/>
          <a:p>
            <a:pPr indent="0" marL="0">
              <a:buNone/>
            </a:pPr>
            <a:r>
              <a:rPr lang="en-US" sz="1900" b="1" dirty="0">
                <a:solidFill>
                  <a:schemeClr val="tx1"/>
                </a:solidFill>
              </a:rPr>
              <a:t>Approve</a:t>
            </a:r>
            <a:endParaRPr lang="en-US" sz="1900" dirty="0"/>
          </a:p>
        </p:txBody>
      </p:sp>
      <p:sp>
        <p:nvSpPr>
          <p:cNvPr id="27" name="Demo body 5"/>
          <p:cNvSpPr txBox="1"/>
          <p:nvPr/>
        </p:nvSpPr>
        <p:spPr>
          <a:xfrm>
            <a:off x="822960" y="5166360"/>
            <a:ext cx="2011680" cy="731520"/>
          </a:xfrm>
          <a:prstGeom prst="rect">
            <a:avLst/>
          </a:prstGeom>
          <a:noFill/>
          <a:ln/>
        </p:spPr>
        <p:txBody>
          <a:bodyPr wrap="square" lIns="0" tIns="0" rIns="0" bIns="0" rtlCol="0" anchor="t"/>
          <a:lstStyle/>
          <a:p>
            <a:pPr indent="0" marL="0">
              <a:buNone/>
            </a:pPr>
            <a:r>
              <a:rPr lang="en-US" sz="1400" dirty="0">
                <a:solidFill>
                  <a:schemeClr val="tx2"/>
                </a:solidFill>
              </a:rPr>
              <a:t>Approved items become Open cards. Double clicks cannot duplicate.</a:t>
            </a:r>
            <a:endParaRPr lang="en-US" sz="1400" dirty="0"/>
          </a:p>
        </p:txBody>
      </p:sp>
      <p:sp>
        <p:nvSpPr>
          <p:cNvPr id="28" name="Demo card 6"/>
          <p:cNvSpPr/>
          <p:nvPr/>
        </p:nvSpPr>
        <p:spPr>
          <a:xfrm>
            <a:off x="3393338" y="3886200"/>
            <a:ext cx="2560320" cy="2103120"/>
          </a:xfrm>
          <a:prstGeom prst="roundRect">
            <a:avLst>
              <a:gd name="adj" fmla="val 5217"/>
            </a:avLst>
          </a:prstGeom>
          <a:solidFill>
            <a:schemeClr val="bg2"/>
          </a:solidFill>
          <a:ln w="12700">
            <a:solidFill>
              <a:schemeClr val="bg2"/>
            </a:solidFill>
            <a:prstDash val="solid"/>
          </a:ln>
        </p:spPr>
      </p:sp>
      <p:sp>
        <p:nvSpPr>
          <p:cNvPr id="29" name="Demo step 6"/>
          <p:cNvSpPr/>
          <p:nvPr/>
        </p:nvSpPr>
        <p:spPr>
          <a:xfrm>
            <a:off x="3667658" y="4114800"/>
            <a:ext cx="548640" cy="548640"/>
          </a:xfrm>
          <a:prstGeom prst="ellipse">
            <a:avLst/>
          </a:prstGeom>
          <a:solidFill>
            <a:schemeClr val="accent1"/>
          </a:solidFill>
          <a:ln w="12700">
            <a:solidFill>
              <a:schemeClr val="accent1"/>
            </a:solidFill>
            <a:prstDash val="solid"/>
          </a:ln>
        </p:spPr>
      </p:sp>
      <p:sp>
        <p:nvSpPr>
          <p:cNvPr id="30" name="Demo step 6 number"/>
          <p:cNvSpPr txBox="1"/>
          <p:nvPr/>
        </p:nvSpPr>
        <p:spPr>
          <a:xfrm>
            <a:off x="3667658" y="4114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1" name="Demo heading 6"/>
          <p:cNvSpPr txBox="1"/>
          <p:nvPr/>
        </p:nvSpPr>
        <p:spPr>
          <a:xfrm>
            <a:off x="3667658" y="4754880"/>
            <a:ext cx="2011680" cy="365760"/>
          </a:xfrm>
          <a:prstGeom prst="rect">
            <a:avLst/>
          </a:prstGeom>
          <a:noFill/>
          <a:ln/>
        </p:spPr>
        <p:txBody>
          <a:bodyPr wrap="square" lIns="0" tIns="0" rIns="0" bIns="0" rtlCol="0" anchor="t"/>
          <a:lstStyle/>
          <a:p>
            <a:pPr indent="0" marL="0">
              <a:buNone/>
            </a:pPr>
            <a:r>
              <a:rPr lang="en-US" sz="1900" b="1" dirty="0">
                <a:solidFill>
                  <a:schemeClr val="tx1"/>
                </a:solidFill>
              </a:rPr>
              <a:t>Track</a:t>
            </a:r>
            <a:endParaRPr lang="en-US" sz="1900" dirty="0"/>
          </a:p>
        </p:txBody>
      </p:sp>
      <p:sp>
        <p:nvSpPr>
          <p:cNvPr id="32" name="Demo body 6"/>
          <p:cNvSpPr txBox="1"/>
          <p:nvPr/>
        </p:nvSpPr>
        <p:spPr>
          <a:xfrm>
            <a:off x="3667658" y="5166360"/>
            <a:ext cx="2011680" cy="731520"/>
          </a:xfrm>
          <a:prstGeom prst="rect">
            <a:avLst/>
          </a:prstGeom>
          <a:noFill/>
          <a:ln/>
        </p:spPr>
        <p:txBody>
          <a:bodyPr wrap="square" lIns="0" tIns="0" rIns="0" bIns="0" rtlCol="0" anchor="t"/>
          <a:lstStyle/>
          <a:p>
            <a:pPr indent="0" marL="0">
              <a:buNone/>
            </a:pPr>
            <a:r>
              <a:rPr lang="en-US" sz="1400" dirty="0">
                <a:solidFill>
                  <a:schemeClr val="tx2"/>
                </a:solidFill>
              </a:rPr>
              <a:t>Drag cards across Open, In Progress, Hold and Completed.</a:t>
            </a:r>
            <a:endParaRPr lang="en-US" sz="1400" dirty="0"/>
          </a:p>
        </p:txBody>
      </p:sp>
      <p:sp>
        <p:nvSpPr>
          <p:cNvPr id="33" name="Demo card 7"/>
          <p:cNvSpPr/>
          <p:nvPr/>
        </p:nvSpPr>
        <p:spPr>
          <a:xfrm>
            <a:off x="6238037" y="3886200"/>
            <a:ext cx="2560320" cy="2103120"/>
          </a:xfrm>
          <a:prstGeom prst="roundRect">
            <a:avLst>
              <a:gd name="adj" fmla="val 5217"/>
            </a:avLst>
          </a:prstGeom>
          <a:solidFill>
            <a:schemeClr val="bg2"/>
          </a:solidFill>
          <a:ln w="12700">
            <a:solidFill>
              <a:schemeClr val="bg2"/>
            </a:solidFill>
            <a:prstDash val="solid"/>
          </a:ln>
        </p:spPr>
      </p:sp>
      <p:sp>
        <p:nvSpPr>
          <p:cNvPr id="34" name="Demo step 7"/>
          <p:cNvSpPr/>
          <p:nvPr/>
        </p:nvSpPr>
        <p:spPr>
          <a:xfrm>
            <a:off x="6512357" y="4114800"/>
            <a:ext cx="548640" cy="548640"/>
          </a:xfrm>
          <a:prstGeom prst="ellipse">
            <a:avLst/>
          </a:prstGeom>
          <a:solidFill>
            <a:schemeClr val="accent1"/>
          </a:solidFill>
          <a:ln w="12700">
            <a:solidFill>
              <a:schemeClr val="accent1"/>
            </a:solidFill>
            <a:prstDash val="solid"/>
          </a:ln>
        </p:spPr>
      </p:sp>
      <p:sp>
        <p:nvSpPr>
          <p:cNvPr id="35" name="Demo step 7 number"/>
          <p:cNvSpPr txBox="1"/>
          <p:nvPr/>
        </p:nvSpPr>
        <p:spPr>
          <a:xfrm>
            <a:off x="6512357" y="4114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36" name="Demo heading 7"/>
          <p:cNvSpPr txBox="1"/>
          <p:nvPr/>
        </p:nvSpPr>
        <p:spPr>
          <a:xfrm>
            <a:off x="6512357" y="4754880"/>
            <a:ext cx="2011680" cy="365760"/>
          </a:xfrm>
          <a:prstGeom prst="rect">
            <a:avLst/>
          </a:prstGeom>
          <a:noFill/>
          <a:ln/>
        </p:spPr>
        <p:txBody>
          <a:bodyPr wrap="square" lIns="0" tIns="0" rIns="0" bIns="0" rtlCol="0" anchor="t"/>
          <a:lstStyle/>
          <a:p>
            <a:pPr indent="0" marL="0">
              <a:buNone/>
            </a:pPr>
            <a:r>
              <a:rPr lang="en-US" sz="1900" b="1" dirty="0">
                <a:solidFill>
                  <a:schemeClr val="tx1"/>
                </a:solidFill>
              </a:rPr>
              <a:t>Dashboard</a:t>
            </a:r>
            <a:endParaRPr lang="en-US" sz="1900" dirty="0"/>
          </a:p>
        </p:txBody>
      </p:sp>
      <p:sp>
        <p:nvSpPr>
          <p:cNvPr id="37" name="Demo body 7"/>
          <p:cNvSpPr txBox="1"/>
          <p:nvPr/>
        </p:nvSpPr>
        <p:spPr>
          <a:xfrm>
            <a:off x="6512357" y="5166360"/>
            <a:ext cx="2011680" cy="731520"/>
          </a:xfrm>
          <a:prstGeom prst="rect">
            <a:avLst/>
          </a:prstGeom>
          <a:noFill/>
          <a:ln/>
        </p:spPr>
        <p:txBody>
          <a:bodyPr wrap="square" lIns="0" tIns="0" rIns="0" bIns="0" rtlCol="0" anchor="t"/>
          <a:lstStyle/>
          <a:p>
            <a:pPr indent="0" marL="0">
              <a:buNone/>
            </a:pPr>
            <a:r>
              <a:rPr lang="en-US" sz="1400" dirty="0">
                <a:solidFill>
                  <a:schemeClr val="tx2"/>
                </a:solidFill>
              </a:rPr>
              <a:t>Counts, overdue by owner and completion rate update live.</a:t>
            </a:r>
            <a:endParaRPr lang="en-US" sz="1400" dirty="0"/>
          </a:p>
        </p:txBody>
      </p:sp>
      <p:sp>
        <p:nvSpPr>
          <p:cNvPr id="38" name="Demo card 8"/>
          <p:cNvSpPr/>
          <p:nvPr/>
        </p:nvSpPr>
        <p:spPr>
          <a:xfrm>
            <a:off x="9082735" y="3886200"/>
            <a:ext cx="2560320" cy="2103120"/>
          </a:xfrm>
          <a:prstGeom prst="roundRect">
            <a:avLst>
              <a:gd name="adj" fmla="val 5217"/>
            </a:avLst>
          </a:prstGeom>
          <a:solidFill>
            <a:schemeClr val="bg2"/>
          </a:solidFill>
          <a:ln w="12700">
            <a:solidFill>
              <a:schemeClr val="bg2"/>
            </a:solidFill>
            <a:prstDash val="solid"/>
          </a:ln>
        </p:spPr>
      </p:sp>
      <p:sp>
        <p:nvSpPr>
          <p:cNvPr id="39" name="Demo step 8"/>
          <p:cNvSpPr/>
          <p:nvPr/>
        </p:nvSpPr>
        <p:spPr>
          <a:xfrm>
            <a:off x="9357055" y="4114800"/>
            <a:ext cx="548640" cy="548640"/>
          </a:xfrm>
          <a:prstGeom prst="ellipse">
            <a:avLst/>
          </a:prstGeom>
          <a:solidFill>
            <a:schemeClr val="accent1"/>
          </a:solidFill>
          <a:ln w="12700">
            <a:solidFill>
              <a:schemeClr val="accent1"/>
            </a:solidFill>
            <a:prstDash val="solid"/>
          </a:ln>
        </p:spPr>
      </p:sp>
      <p:sp>
        <p:nvSpPr>
          <p:cNvPr id="40" name="Demo step 8 number"/>
          <p:cNvSpPr txBox="1"/>
          <p:nvPr/>
        </p:nvSpPr>
        <p:spPr>
          <a:xfrm>
            <a:off x="9357055" y="4114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8</a:t>
            </a:r>
            <a:endParaRPr lang="en-US" sz="2000" dirty="0"/>
          </a:p>
        </p:txBody>
      </p:sp>
      <p:sp>
        <p:nvSpPr>
          <p:cNvPr id="41" name="Demo heading 8"/>
          <p:cNvSpPr txBox="1"/>
          <p:nvPr/>
        </p:nvSpPr>
        <p:spPr>
          <a:xfrm>
            <a:off x="9357055" y="4754880"/>
            <a:ext cx="2011680" cy="365760"/>
          </a:xfrm>
          <a:prstGeom prst="rect">
            <a:avLst/>
          </a:prstGeom>
          <a:noFill/>
          <a:ln/>
        </p:spPr>
        <p:txBody>
          <a:bodyPr wrap="square" lIns="0" tIns="0" rIns="0" bIns="0" rtlCol="0" anchor="t"/>
          <a:lstStyle/>
          <a:p>
            <a:pPr indent="0" marL="0">
              <a:buNone/>
            </a:pPr>
            <a:r>
              <a:rPr lang="en-US" sz="1900" b="1" dirty="0">
                <a:solidFill>
                  <a:schemeClr val="tx1"/>
                </a:solidFill>
              </a:rPr>
              <a:t>Trace back</a:t>
            </a:r>
            <a:endParaRPr lang="en-US" sz="1900" dirty="0"/>
          </a:p>
        </p:txBody>
      </p:sp>
      <p:sp>
        <p:nvSpPr>
          <p:cNvPr id="42" name="Demo body 8"/>
          <p:cNvSpPr txBox="1"/>
          <p:nvPr/>
        </p:nvSpPr>
        <p:spPr>
          <a:xfrm>
            <a:off x="9357055" y="5166360"/>
            <a:ext cx="2011680" cy="731520"/>
          </a:xfrm>
          <a:prstGeom prst="rect">
            <a:avLst/>
          </a:prstGeom>
          <a:noFill/>
          <a:ln/>
        </p:spPr>
        <p:txBody>
          <a:bodyPr wrap="square" lIns="0" tIns="0" rIns="0" bIns="0" rtlCol="0" anchor="t"/>
          <a:lstStyle/>
          <a:p>
            <a:pPr indent="0" marL="0">
              <a:buNone/>
            </a:pPr>
            <a:r>
              <a:rPr lang="en-US" sz="1400" dirty="0">
                <a:solidFill>
                  <a:schemeClr val="tx2"/>
                </a:solidFill>
              </a:rPr>
              <a:t>Jump from any task to the exact sentence behind it.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How we run and manage it</a:t>
            </a:r>
            <a:endParaRPr lang="en-US" sz="3400" dirty="0"/>
          </a:p>
        </p:txBody>
      </p:sp>
      <p:sp>
        <p:nvSpPr>
          <p:cNvPr id="3" name="Manage card 1"/>
          <p:cNvSpPr/>
          <p:nvPr/>
        </p:nvSpPr>
        <p:spPr>
          <a:xfrm>
            <a:off x="548640" y="1508760"/>
            <a:ext cx="5410048" cy="2103120"/>
          </a:xfrm>
          <a:prstGeom prst="roundRect">
            <a:avLst>
              <a:gd name="adj" fmla="val 5217"/>
            </a:avLst>
          </a:prstGeom>
          <a:solidFill>
            <a:schemeClr val="bg2"/>
          </a:solidFill>
          <a:ln w="12700">
            <a:solidFill>
              <a:schemeClr val="bg2"/>
            </a:solidFill>
            <a:prstDash val="solid"/>
          </a:ln>
        </p:spPr>
      </p:sp>
      <p:sp>
        <p:nvSpPr>
          <p:cNvPr id="4" name="Manage 1 circle"/>
          <p:cNvSpPr/>
          <p:nvPr/>
        </p:nvSpPr>
        <p:spPr>
          <a:xfrm>
            <a:off x="868680" y="1783080"/>
            <a:ext cx="594360" cy="594360"/>
          </a:xfrm>
          <a:prstGeom prst="ellipse">
            <a:avLst/>
          </a:prstGeom>
          <a:solidFill>
            <a:schemeClr val="accent1"/>
          </a:solidFill>
          <a:ln w="12700">
            <a:solidFill>
              <a:schemeClr val="accent1"/>
            </a:solidFill>
            <a:prstDash val="solid"/>
          </a:ln>
        </p:spPr>
      </p:sp>
      <p:pic>
        <p:nvPicPr>
          <p:cNvPr id="5" name="Manage 1 icon" descr="Manage 1">    </p:cNvPr>
          <p:cNvPicPr>
            <a:picLocks noChangeAspect="1"/>
          </p:cNvPicPr>
          <p:nvPr/>
        </p:nvPicPr>
        <p:blipFill>
          <a:blip r:embed="rId1"/>
          <a:stretch>
            <a:fillRect/>
          </a:stretch>
        </p:blipFill>
        <p:spPr>
          <a:xfrm>
            <a:off x="1029157" y="1943557"/>
            <a:ext cx="273406" cy="273406"/>
          </a:xfrm>
          <a:prstGeom prst="rect">
            <a:avLst/>
          </a:prstGeom>
        </p:spPr>
      </p:pic>
      <p:sp>
        <p:nvSpPr>
          <p:cNvPr id="6" name="Manage heading 1"/>
          <p:cNvSpPr txBox="1"/>
          <p:nvPr/>
        </p:nvSpPr>
        <p:spPr>
          <a:xfrm>
            <a:off x="1691640" y="1783080"/>
            <a:ext cx="3947008" cy="594360"/>
          </a:xfrm>
          <a:prstGeom prst="rect">
            <a:avLst/>
          </a:prstGeom>
          <a:noFill/>
          <a:ln/>
        </p:spPr>
        <p:txBody>
          <a:bodyPr wrap="square" lIns="0" tIns="0" rIns="0" bIns="0" rtlCol="0" anchor="ctr"/>
          <a:lstStyle/>
          <a:p>
            <a:pPr indent="0" marL="0">
              <a:buNone/>
            </a:pPr>
            <a:r>
              <a:rPr lang="en-US" sz="2200" b="1" dirty="0">
                <a:solidFill>
                  <a:schemeClr val="tx1"/>
                </a:solidFill>
              </a:rPr>
              <a:t>Run</a:t>
            </a:r>
            <a:endParaRPr lang="en-US" sz="2200" dirty="0"/>
          </a:p>
        </p:txBody>
      </p:sp>
      <p:sp>
        <p:nvSpPr>
          <p:cNvPr id="7" name="Manage body 1"/>
          <p:cNvSpPr txBox="1"/>
          <p:nvPr/>
        </p:nvSpPr>
        <p:spPr>
          <a:xfrm>
            <a:off x="868680" y="2560320"/>
            <a:ext cx="4769968" cy="914400"/>
          </a:xfrm>
          <a:prstGeom prst="rect">
            <a:avLst/>
          </a:prstGeom>
          <a:noFill/>
          <a:ln/>
        </p:spPr>
        <p:txBody>
          <a:bodyPr wrap="square" lIns="0" tIns="0" rIns="0" bIns="0" rtlCol="0" anchor="t"/>
          <a:lstStyle/>
          <a:p>
            <a:pPr indent="0" marL="0">
              <a:buNone/>
            </a:pPr>
            <a:r>
              <a:rPr lang="en-US" sz="1600" dirty="0">
                <a:solidFill>
                  <a:schemeClr val="tx2"/>
                </a:solidFill>
              </a:rPr>
              <a:t>pip install -r requirements.txt, then python run.py and open localhost:8000. One command, no database to set up.</a:t>
            </a:r>
            <a:endParaRPr lang="en-US" sz="1600" dirty="0"/>
          </a:p>
        </p:txBody>
      </p:sp>
      <p:sp>
        <p:nvSpPr>
          <p:cNvPr id="8" name="Manage card 2"/>
          <p:cNvSpPr/>
          <p:nvPr/>
        </p:nvSpPr>
        <p:spPr>
          <a:xfrm>
            <a:off x="6233008" y="1508760"/>
            <a:ext cx="5410048" cy="2103120"/>
          </a:xfrm>
          <a:prstGeom prst="roundRect">
            <a:avLst>
              <a:gd name="adj" fmla="val 5217"/>
            </a:avLst>
          </a:prstGeom>
          <a:solidFill>
            <a:schemeClr val="bg2"/>
          </a:solidFill>
          <a:ln w="12700">
            <a:solidFill>
              <a:schemeClr val="bg2"/>
            </a:solidFill>
            <a:prstDash val="solid"/>
          </a:ln>
        </p:spPr>
      </p:sp>
      <p:sp>
        <p:nvSpPr>
          <p:cNvPr id="9" name="Manage 2 circle"/>
          <p:cNvSpPr/>
          <p:nvPr/>
        </p:nvSpPr>
        <p:spPr>
          <a:xfrm>
            <a:off x="6553048" y="1783080"/>
            <a:ext cx="594360" cy="594360"/>
          </a:xfrm>
          <a:prstGeom prst="ellipse">
            <a:avLst/>
          </a:prstGeom>
          <a:solidFill>
            <a:schemeClr val="accent1"/>
          </a:solidFill>
          <a:ln w="12700">
            <a:solidFill>
              <a:schemeClr val="accent1"/>
            </a:solidFill>
            <a:prstDash val="solid"/>
          </a:ln>
        </p:spPr>
      </p:sp>
      <p:pic>
        <p:nvPicPr>
          <p:cNvPr id="10" name="Manage 2 icon" descr="Manage 2">    </p:cNvPr>
          <p:cNvPicPr>
            <a:picLocks noChangeAspect="1"/>
          </p:cNvPicPr>
          <p:nvPr/>
        </p:nvPicPr>
        <p:blipFill>
          <a:blip r:embed="rId2"/>
          <a:stretch>
            <a:fillRect/>
          </a:stretch>
        </p:blipFill>
        <p:spPr>
          <a:xfrm>
            <a:off x="6713525" y="1943557"/>
            <a:ext cx="273406" cy="273406"/>
          </a:xfrm>
          <a:prstGeom prst="rect">
            <a:avLst/>
          </a:prstGeom>
        </p:spPr>
      </p:pic>
      <p:sp>
        <p:nvSpPr>
          <p:cNvPr id="11" name="Manage heading 2"/>
          <p:cNvSpPr txBox="1"/>
          <p:nvPr/>
        </p:nvSpPr>
        <p:spPr>
          <a:xfrm>
            <a:off x="7376008" y="1783080"/>
            <a:ext cx="3947008" cy="594360"/>
          </a:xfrm>
          <a:prstGeom prst="rect">
            <a:avLst/>
          </a:prstGeom>
          <a:noFill/>
          <a:ln/>
        </p:spPr>
        <p:txBody>
          <a:bodyPr wrap="square" lIns="0" tIns="0" rIns="0" bIns="0" rtlCol="0" anchor="ctr"/>
          <a:lstStyle/>
          <a:p>
            <a:pPr indent="0" marL="0">
              <a:buNone/>
            </a:pPr>
            <a:r>
              <a:rPr lang="en-US" sz="2200" b="1" dirty="0">
                <a:solidFill>
                  <a:schemeClr val="tx1"/>
                </a:solidFill>
              </a:rPr>
              <a:t>Modes</a:t>
            </a:r>
            <a:endParaRPr lang="en-US" sz="2200" dirty="0"/>
          </a:p>
        </p:txBody>
      </p:sp>
      <p:sp>
        <p:nvSpPr>
          <p:cNvPr id="12" name="Manage body 2"/>
          <p:cNvSpPr txBox="1"/>
          <p:nvPr/>
        </p:nvSpPr>
        <p:spPr>
          <a:xfrm>
            <a:off x="6553048" y="2560320"/>
            <a:ext cx="4769968" cy="914400"/>
          </a:xfrm>
          <a:prstGeom prst="rect">
            <a:avLst/>
          </a:prstGeom>
          <a:noFill/>
          <a:ln/>
        </p:spPr>
        <p:txBody>
          <a:bodyPr wrap="square" lIns="0" tIns="0" rIns="0" bIns="0" rtlCol="0" anchor="t"/>
          <a:lstStyle/>
          <a:p>
            <a:pPr indent="0" marL="0">
              <a:buNone/>
            </a:pPr>
            <a:r>
              <a:rPr lang="en-US" sz="1600" dirty="0">
                <a:solidFill>
                  <a:schemeClr val="tx2"/>
                </a:solidFill>
              </a:rPr>
              <a:t>Demo mode needs no key. Add one provider key in .env for live AI. The header badge always shows which mode is active.</a:t>
            </a:r>
            <a:endParaRPr lang="en-US" sz="1600" dirty="0"/>
          </a:p>
        </p:txBody>
      </p:sp>
      <p:sp>
        <p:nvSpPr>
          <p:cNvPr id="13" name="Manage card 3"/>
          <p:cNvSpPr/>
          <p:nvPr/>
        </p:nvSpPr>
        <p:spPr>
          <a:xfrm>
            <a:off x="548640" y="3886200"/>
            <a:ext cx="5410048" cy="2103120"/>
          </a:xfrm>
          <a:prstGeom prst="roundRect">
            <a:avLst>
              <a:gd name="adj" fmla="val 5217"/>
            </a:avLst>
          </a:prstGeom>
          <a:solidFill>
            <a:schemeClr val="bg2"/>
          </a:solidFill>
          <a:ln w="12700">
            <a:solidFill>
              <a:schemeClr val="bg2"/>
            </a:solidFill>
            <a:prstDash val="solid"/>
          </a:ln>
        </p:spPr>
      </p:sp>
      <p:sp>
        <p:nvSpPr>
          <p:cNvPr id="14" name="Manage 3 circle"/>
          <p:cNvSpPr/>
          <p:nvPr/>
        </p:nvSpPr>
        <p:spPr>
          <a:xfrm>
            <a:off x="868680" y="4160520"/>
            <a:ext cx="594360" cy="594360"/>
          </a:xfrm>
          <a:prstGeom prst="ellipse">
            <a:avLst/>
          </a:prstGeom>
          <a:solidFill>
            <a:schemeClr val="accent1"/>
          </a:solidFill>
          <a:ln w="12700">
            <a:solidFill>
              <a:schemeClr val="accent1"/>
            </a:solidFill>
            <a:prstDash val="solid"/>
          </a:ln>
        </p:spPr>
      </p:sp>
      <p:pic>
        <p:nvPicPr>
          <p:cNvPr id="15" name="Manage 3 icon" descr="Manage 3">    </p:cNvPr>
          <p:cNvPicPr>
            <a:picLocks noChangeAspect="1"/>
          </p:cNvPicPr>
          <p:nvPr/>
        </p:nvPicPr>
        <p:blipFill>
          <a:blip r:embed="rId3"/>
          <a:stretch>
            <a:fillRect/>
          </a:stretch>
        </p:blipFill>
        <p:spPr>
          <a:xfrm>
            <a:off x="1029157" y="4320997"/>
            <a:ext cx="273406" cy="273406"/>
          </a:xfrm>
          <a:prstGeom prst="rect">
            <a:avLst/>
          </a:prstGeom>
        </p:spPr>
      </p:pic>
      <p:sp>
        <p:nvSpPr>
          <p:cNvPr id="16" name="Manage heading 3"/>
          <p:cNvSpPr txBox="1"/>
          <p:nvPr/>
        </p:nvSpPr>
        <p:spPr>
          <a:xfrm>
            <a:off x="1691640" y="4160520"/>
            <a:ext cx="3947008" cy="594360"/>
          </a:xfrm>
          <a:prstGeom prst="rect">
            <a:avLst/>
          </a:prstGeom>
          <a:noFill/>
          <a:ln/>
        </p:spPr>
        <p:txBody>
          <a:bodyPr wrap="square" lIns="0" tIns="0" rIns="0" bIns="0" rtlCol="0" anchor="ctr"/>
          <a:lstStyle/>
          <a:p>
            <a:pPr indent="0" marL="0">
              <a:buNone/>
            </a:pPr>
            <a:r>
              <a:rPr lang="en-US" sz="2200" b="1" dirty="0">
                <a:solidFill>
                  <a:schemeClr val="tx1"/>
                </a:solidFill>
              </a:rPr>
              <a:t>Work</a:t>
            </a:r>
            <a:endParaRPr lang="en-US" sz="2200" dirty="0"/>
          </a:p>
        </p:txBody>
      </p:sp>
      <p:sp>
        <p:nvSpPr>
          <p:cNvPr id="17" name="Manage body 3"/>
          <p:cNvSpPr txBox="1"/>
          <p:nvPr/>
        </p:nvSpPr>
        <p:spPr>
          <a:xfrm>
            <a:off x="868680" y="4937760"/>
            <a:ext cx="4769968" cy="914400"/>
          </a:xfrm>
          <a:prstGeom prst="rect">
            <a:avLst/>
          </a:prstGeom>
          <a:noFill/>
          <a:ln/>
        </p:spPr>
        <p:txBody>
          <a:bodyPr wrap="square" lIns="0" tIns="0" rIns="0" bIns="0" rtlCol="0" anchor="t"/>
          <a:lstStyle/>
          <a:p>
            <a:pPr indent="0" marL="0">
              <a:buNone/>
            </a:pPr>
            <a:r>
              <a:rPr lang="en-US" sz="1600" dirty="0">
                <a:solidFill>
                  <a:schemeClr val="tx2"/>
                </a:solidFill>
              </a:rPr>
              <a:t>Each task has an owner, due date, priority and source. Overdue means past due and not completed. Filter by owner, status or date.</a:t>
            </a:r>
            <a:endParaRPr lang="en-US" sz="1600" dirty="0"/>
          </a:p>
        </p:txBody>
      </p:sp>
      <p:sp>
        <p:nvSpPr>
          <p:cNvPr id="18" name="Manage card 4"/>
          <p:cNvSpPr/>
          <p:nvPr/>
        </p:nvSpPr>
        <p:spPr>
          <a:xfrm>
            <a:off x="6233008" y="3886200"/>
            <a:ext cx="5410048" cy="2103120"/>
          </a:xfrm>
          <a:prstGeom prst="roundRect">
            <a:avLst>
              <a:gd name="adj" fmla="val 5217"/>
            </a:avLst>
          </a:prstGeom>
          <a:solidFill>
            <a:schemeClr val="bg2"/>
          </a:solidFill>
          <a:ln w="12700">
            <a:solidFill>
              <a:schemeClr val="bg2"/>
            </a:solidFill>
            <a:prstDash val="solid"/>
          </a:ln>
        </p:spPr>
      </p:sp>
      <p:sp>
        <p:nvSpPr>
          <p:cNvPr id="19" name="Manage 4 circle"/>
          <p:cNvSpPr/>
          <p:nvPr/>
        </p:nvSpPr>
        <p:spPr>
          <a:xfrm>
            <a:off x="6553048" y="4160520"/>
            <a:ext cx="594360" cy="594360"/>
          </a:xfrm>
          <a:prstGeom prst="ellipse">
            <a:avLst/>
          </a:prstGeom>
          <a:solidFill>
            <a:schemeClr val="accent1"/>
          </a:solidFill>
          <a:ln w="12700">
            <a:solidFill>
              <a:schemeClr val="accent1"/>
            </a:solidFill>
            <a:prstDash val="solid"/>
          </a:ln>
        </p:spPr>
      </p:sp>
      <p:pic>
        <p:nvPicPr>
          <p:cNvPr id="20" name="Manage 4 icon" descr="Manage 4">    </p:cNvPr>
          <p:cNvPicPr>
            <a:picLocks noChangeAspect="1"/>
          </p:cNvPicPr>
          <p:nvPr/>
        </p:nvPicPr>
        <p:blipFill>
          <a:blip r:embed="rId4"/>
          <a:stretch>
            <a:fillRect/>
          </a:stretch>
        </p:blipFill>
        <p:spPr>
          <a:xfrm>
            <a:off x="6713525" y="4320997"/>
            <a:ext cx="273406" cy="273406"/>
          </a:xfrm>
          <a:prstGeom prst="rect">
            <a:avLst/>
          </a:prstGeom>
        </p:spPr>
      </p:pic>
      <p:sp>
        <p:nvSpPr>
          <p:cNvPr id="21" name="Manage heading 4"/>
          <p:cNvSpPr txBox="1"/>
          <p:nvPr/>
        </p:nvSpPr>
        <p:spPr>
          <a:xfrm>
            <a:off x="7376008" y="4160520"/>
            <a:ext cx="3947008" cy="594360"/>
          </a:xfrm>
          <a:prstGeom prst="rect">
            <a:avLst/>
          </a:prstGeom>
          <a:noFill/>
          <a:ln/>
        </p:spPr>
        <p:txBody>
          <a:bodyPr wrap="square" lIns="0" tIns="0" rIns="0" bIns="0" rtlCol="0" anchor="ctr"/>
          <a:lstStyle/>
          <a:p>
            <a:pPr indent="0" marL="0">
              <a:buNone/>
            </a:pPr>
            <a:r>
              <a:rPr lang="en-US" sz="2200" b="1" dirty="0">
                <a:solidFill>
                  <a:schemeClr val="tx1"/>
                </a:solidFill>
              </a:rPr>
              <a:t>Data</a:t>
            </a:r>
            <a:endParaRPr lang="en-US" sz="2200" dirty="0"/>
          </a:p>
        </p:txBody>
      </p:sp>
      <p:sp>
        <p:nvSpPr>
          <p:cNvPr id="22" name="Manage body 4"/>
          <p:cNvSpPr txBox="1"/>
          <p:nvPr/>
        </p:nvSpPr>
        <p:spPr>
          <a:xfrm>
            <a:off x="6553048" y="4937760"/>
            <a:ext cx="4769968" cy="914400"/>
          </a:xfrm>
          <a:prstGeom prst="rect">
            <a:avLst/>
          </a:prstGeom>
          <a:noFill/>
          <a:ln/>
        </p:spPr>
        <p:txBody>
          <a:bodyPr wrap="square" lIns="0" tIns="0" rIns="0" bIns="0" rtlCol="0" anchor="t"/>
          <a:lstStyle/>
          <a:p>
            <a:pPr indent="0" marL="0">
              <a:buNone/>
            </a:pPr>
            <a:r>
              <a:rPr lang="en-US" sz="1600" dirty="0">
                <a:solidFill>
                  <a:schemeClr val="tx2"/>
                </a:solidFill>
              </a:rPr>
              <a:t>Data stays in the browser. Export or import JSON backups from Data and backup. It is not shared or synced between people yet.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rPr>
              <a:t>Working today, and what comes next</a:t>
            </a:r>
            <a:endParaRPr lang="en-US" sz="3400" dirty="0"/>
          </a:p>
        </p:txBody>
      </p:sp>
      <p:sp>
        <p:nvSpPr>
          <p:cNvPr id="3" name="Today panel"/>
          <p:cNvSpPr/>
          <p:nvPr/>
        </p:nvSpPr>
        <p:spPr>
          <a:xfrm>
            <a:off x="548640" y="1508760"/>
            <a:ext cx="5410048" cy="4206240"/>
          </a:xfrm>
          <a:prstGeom prst="roundRect">
            <a:avLst>
              <a:gd name="adj" fmla="val 2609"/>
            </a:avLst>
          </a:prstGeom>
          <a:solidFill>
            <a:schemeClr val="bg2"/>
          </a:solidFill>
          <a:ln w="12700">
            <a:solidFill>
              <a:schemeClr val="bg2"/>
            </a:solidFill>
            <a:prstDash val="solid"/>
          </a:ln>
        </p:spPr>
      </p:sp>
      <p:sp>
        <p:nvSpPr>
          <p:cNvPr id="4" name="Today circle"/>
          <p:cNvSpPr/>
          <p:nvPr/>
        </p:nvSpPr>
        <p:spPr>
          <a:xfrm>
            <a:off x="914400" y="1783080"/>
            <a:ext cx="594360" cy="594360"/>
          </a:xfrm>
          <a:prstGeom prst="ellipse">
            <a:avLst/>
          </a:prstGeom>
          <a:solidFill>
            <a:schemeClr val="accent5"/>
          </a:solidFill>
          <a:ln w="12700">
            <a:solidFill>
              <a:schemeClr val="accent5"/>
            </a:solidFill>
            <a:prstDash val="solid"/>
          </a:ln>
        </p:spPr>
      </p:sp>
      <p:pic>
        <p:nvPicPr>
          <p:cNvPr id="5" name="Today icon" descr="Today">    </p:cNvPr>
          <p:cNvPicPr>
            <a:picLocks noChangeAspect="1"/>
          </p:cNvPicPr>
          <p:nvPr/>
        </p:nvPicPr>
        <p:blipFill>
          <a:blip r:embed="rId1"/>
          <a:stretch>
            <a:fillRect/>
          </a:stretch>
        </p:blipFill>
        <p:spPr>
          <a:xfrm>
            <a:off x="1074877" y="1943557"/>
            <a:ext cx="273406" cy="273406"/>
          </a:xfrm>
          <a:prstGeom prst="rect">
            <a:avLst/>
          </a:prstGeom>
        </p:spPr>
      </p:pic>
      <p:sp>
        <p:nvSpPr>
          <p:cNvPr id="6" name="Today heading"/>
          <p:cNvSpPr txBox="1"/>
          <p:nvPr/>
        </p:nvSpPr>
        <p:spPr>
          <a:xfrm>
            <a:off x="1737360" y="1783080"/>
            <a:ext cx="3855568" cy="594360"/>
          </a:xfrm>
          <a:prstGeom prst="rect">
            <a:avLst/>
          </a:prstGeom>
          <a:noFill/>
          <a:ln/>
        </p:spPr>
        <p:txBody>
          <a:bodyPr wrap="square" lIns="0" tIns="0" rIns="0" bIns="0" rtlCol="0" anchor="ctr"/>
          <a:lstStyle/>
          <a:p>
            <a:pPr indent="0" marL="0">
              <a:buNone/>
            </a:pPr>
            <a:r>
              <a:rPr lang="en-US" sz="2400" b="1" dirty="0">
                <a:solidFill>
                  <a:schemeClr val="tx1"/>
                </a:solidFill>
              </a:rPr>
              <a:t>Working today</a:t>
            </a:r>
            <a:endParaRPr lang="en-US" sz="2400" dirty="0"/>
          </a:p>
        </p:txBody>
      </p:sp>
      <p:sp>
        <p:nvSpPr>
          <p:cNvPr id="7" name="Today list"/>
          <p:cNvSpPr txBox="1"/>
          <p:nvPr/>
        </p:nvSpPr>
        <p:spPr>
          <a:xfrm>
            <a:off x="960120" y="2651760"/>
            <a:ext cx="4587088" cy="310896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tx1"/>
                </a:solidFill>
              </a:rPr>
              <a:t>Paste or upload a .txt transcript</a:t>
            </a:r>
            <a:endParaRPr lang="en-US" sz="2000" dirty="0"/>
          </a:p>
          <a:p>
            <a:pPr marL="342900" indent="-342900">
              <a:spcAft>
                <a:spcPts val="1400"/>
              </a:spcAft>
              <a:buSzPct val="100000"/>
              <a:buChar char="•"/>
            </a:pPr>
            <a:r>
              <a:rPr lang="en-US" sz="2000" dirty="0">
                <a:solidFill>
                  <a:schemeClr val="tx1"/>
                </a:solidFill>
              </a:rPr>
              <a:t>Summary, decisions and action items</a:t>
            </a:r>
            <a:endParaRPr lang="en-US" sz="2000" dirty="0"/>
          </a:p>
          <a:p>
            <a:pPr marL="342900" indent="-342900">
              <a:spcAft>
                <a:spcPts val="1400"/>
              </a:spcAft>
              <a:buSzPct val="100000"/>
              <a:buChar char="•"/>
            </a:pPr>
            <a:r>
              <a:rPr lang="en-US" sz="2000" dirty="0">
                <a:solidFill>
                  <a:schemeClr val="tx1"/>
                </a:solidFill>
              </a:rPr>
              <a:t>Review, approve and send to Kanban</a:t>
            </a:r>
            <a:endParaRPr lang="en-US" sz="2000" dirty="0"/>
          </a:p>
          <a:p>
            <a:pPr marL="342900" indent="-342900">
              <a:spcAft>
                <a:spcPts val="1400"/>
              </a:spcAft>
              <a:buSzPct val="100000"/>
              <a:buChar char="•"/>
            </a:pPr>
            <a:r>
              <a:rPr lang="en-US" sz="2000" dirty="0">
                <a:solidFill>
                  <a:schemeClr val="tx1"/>
                </a:solidFill>
              </a:rPr>
              <a:t>Dashboard with overdue and ownership</a:t>
            </a:r>
            <a:endParaRPr lang="en-US" sz="2000" dirty="0"/>
          </a:p>
          <a:p>
            <a:pPr marL="342900" indent="-342900">
              <a:spcAft>
                <a:spcPts val="1400"/>
              </a:spcAft>
              <a:buSzPct val="100000"/>
              <a:buChar char="•"/>
            </a:pPr>
            <a:r>
              <a:rPr lang="en-US" sz="2000" dirty="0">
                <a:solidFill>
                  <a:schemeClr val="tx1"/>
                </a:solidFill>
              </a:rPr>
              <a:t>Demo mode and live AI mode</a:t>
            </a:r>
            <a:endParaRPr lang="en-US" sz="2000" dirty="0"/>
          </a:p>
        </p:txBody>
      </p:sp>
      <p:sp>
        <p:nvSpPr>
          <p:cNvPr id="8" name="Next panel"/>
          <p:cNvSpPr/>
          <p:nvPr/>
        </p:nvSpPr>
        <p:spPr>
          <a:xfrm>
            <a:off x="6233008" y="1508760"/>
            <a:ext cx="5410048" cy="4206240"/>
          </a:xfrm>
          <a:prstGeom prst="roundRect">
            <a:avLst>
              <a:gd name="adj" fmla="val 2609"/>
            </a:avLst>
          </a:prstGeom>
          <a:solidFill>
            <a:schemeClr val="tx1"/>
          </a:solidFill>
          <a:ln w="12700">
            <a:solidFill>
              <a:schemeClr val="tx1"/>
            </a:solidFill>
            <a:prstDash val="solid"/>
          </a:ln>
        </p:spPr>
      </p:sp>
      <p:sp>
        <p:nvSpPr>
          <p:cNvPr id="9" name="Next circle"/>
          <p:cNvSpPr/>
          <p:nvPr/>
        </p:nvSpPr>
        <p:spPr>
          <a:xfrm>
            <a:off x="6598768" y="1783080"/>
            <a:ext cx="594360" cy="594360"/>
          </a:xfrm>
          <a:prstGeom prst="ellipse">
            <a:avLst/>
          </a:prstGeom>
          <a:solidFill>
            <a:schemeClr val="accent2"/>
          </a:solidFill>
          <a:ln w="12700">
            <a:solidFill>
              <a:schemeClr val="accent2"/>
            </a:solidFill>
            <a:prstDash val="solid"/>
          </a:ln>
        </p:spPr>
      </p:sp>
      <p:pic>
        <p:nvPicPr>
          <p:cNvPr id="10" name="Next icon" descr="Next">    </p:cNvPr>
          <p:cNvPicPr>
            <a:picLocks noChangeAspect="1"/>
          </p:cNvPicPr>
          <p:nvPr/>
        </p:nvPicPr>
        <p:blipFill>
          <a:blip r:embed="rId2"/>
          <a:stretch>
            <a:fillRect/>
          </a:stretch>
        </p:blipFill>
        <p:spPr>
          <a:xfrm>
            <a:off x="6759245" y="1943557"/>
            <a:ext cx="273406" cy="273406"/>
          </a:xfrm>
          <a:prstGeom prst="rect">
            <a:avLst/>
          </a:prstGeom>
        </p:spPr>
      </p:pic>
      <p:sp>
        <p:nvSpPr>
          <p:cNvPr id="11" name="Next heading"/>
          <p:cNvSpPr txBox="1"/>
          <p:nvPr/>
        </p:nvSpPr>
        <p:spPr>
          <a:xfrm>
            <a:off x="7421728" y="1783080"/>
            <a:ext cx="3855568" cy="594360"/>
          </a:xfrm>
          <a:prstGeom prst="rect">
            <a:avLst/>
          </a:prstGeom>
          <a:noFill/>
          <a:ln/>
        </p:spPr>
        <p:txBody>
          <a:bodyPr wrap="square" lIns="0" tIns="0" rIns="0" bIns="0" rtlCol="0" anchor="ctr"/>
          <a:lstStyle/>
          <a:p>
            <a:pPr indent="0" marL="0">
              <a:buNone/>
            </a:pPr>
            <a:r>
              <a:rPr lang="en-US" sz="2400" b="1" dirty="0">
                <a:solidFill>
                  <a:schemeClr val="bg1"/>
                </a:solidFill>
              </a:rPr>
              <a:t>Next steps</a:t>
            </a:r>
            <a:endParaRPr lang="en-US" sz="2400" dirty="0"/>
          </a:p>
        </p:txBody>
      </p:sp>
      <p:sp>
        <p:nvSpPr>
          <p:cNvPr id="12" name="Next list"/>
          <p:cNvSpPr txBox="1"/>
          <p:nvPr/>
        </p:nvSpPr>
        <p:spPr>
          <a:xfrm>
            <a:off x="6644488" y="2651760"/>
            <a:ext cx="4587088" cy="310896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bg1"/>
                </a:solidFill>
              </a:rPr>
              <a:t>Shared database and team login</a:t>
            </a:r>
            <a:endParaRPr lang="en-US" sz="2000" dirty="0"/>
          </a:p>
          <a:p>
            <a:pPr marL="342900" indent="-342900">
              <a:spcAft>
                <a:spcPts val="1400"/>
              </a:spcAft>
              <a:buSzPct val="100000"/>
              <a:buChar char="•"/>
            </a:pPr>
            <a:r>
              <a:rPr lang="en-US" sz="2000" dirty="0">
                <a:solidFill>
                  <a:schemeClr val="bg1"/>
                </a:solidFill>
              </a:rPr>
              <a:t>Slack, Teams and calendar integration</a:t>
            </a:r>
            <a:endParaRPr lang="en-US" sz="2000" dirty="0"/>
          </a:p>
          <a:p>
            <a:pPr marL="342900" indent="-342900">
              <a:spcAft>
                <a:spcPts val="1400"/>
              </a:spcAft>
              <a:buSzPct val="100000"/>
              <a:buChar char="•"/>
            </a:pPr>
            <a:r>
              <a:rPr lang="en-US" sz="2000" dirty="0">
                <a:solidFill>
                  <a:schemeClr val="bg1"/>
                </a:solidFill>
              </a:rPr>
              <a:t>Audio, PDF and caption-file transcripts</a:t>
            </a:r>
            <a:endParaRPr lang="en-US" sz="2000" dirty="0"/>
          </a:p>
          <a:p>
            <a:pPr marL="342900" indent="-342900">
              <a:spcAft>
                <a:spcPts val="1400"/>
              </a:spcAft>
              <a:buSzPct val="100000"/>
              <a:buChar char="•"/>
            </a:pPr>
            <a:r>
              <a:rPr lang="en-US" sz="2000" dirty="0">
                <a:solidFill>
                  <a:schemeClr val="bg1"/>
                </a:solidFill>
              </a:rPr>
              <a:t>Due-date reminders by email</a:t>
            </a:r>
            <a:endParaRPr lang="en-US" sz="2000" dirty="0"/>
          </a:p>
          <a:p>
            <a:pPr marL="342900" indent="-342900">
              <a:spcAft>
                <a:spcPts val="1400"/>
              </a:spcAft>
              <a:buSzPct val="100000"/>
              <a:buChar char="•"/>
            </a:pPr>
            <a:r>
              <a:rPr lang="en-US" sz="2000" dirty="0">
                <a:solidFill>
                  <a:schemeClr val="bg1"/>
                </a:solidFill>
              </a:rPr>
              <a:t>More languages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10881360" cy="1371600"/>
          </a:xfrm>
          <a:prstGeom prst="rect">
            <a:avLst/>
          </a:prstGeom>
          <a:noFill/>
          <a:ln/>
        </p:spPr>
        <p:txBody>
          <a:bodyPr wrap="square" lIns="0" tIns="0" rIns="0" bIns="0" rtlCol="0" anchor="b"/>
          <a:lstStyle/>
          <a:p>
            <a:pPr algn="l" indent="0" marL="0">
              <a:buNone/>
            </a:pPr>
            <a:r>
              <a:rPr lang="en-US" sz="5600" b="1" dirty="0">
                <a:solidFill>
                  <a:schemeClr val="bg1"/>
                </a:solidFill>
              </a:rPr>
              <a:t>Thank you</a:t>
            </a:r>
            <a:endParaRPr lang="en-US" sz="5600" dirty="0"/>
          </a:p>
        </p:txBody>
      </p:sp>
      <p:sp>
        <p:nvSpPr>
          <p:cNvPr id="3" name="Text 0"/>
          <p:cNvSpPr/>
          <p:nvPr>
            <p:ph idx="101" type="body" hasCustomPrompt="1"/>
          </p:nvPr>
        </p:nvSpPr>
        <p:spPr>
          <a:xfrm>
            <a:off x="640080" y="2926080"/>
            <a:ext cx="10881360" cy="822960"/>
          </a:xfrm>
          <a:prstGeom prst="rect">
            <a:avLst/>
          </a:prstGeom>
          <a:noFill/>
          <a:ln/>
        </p:spPr>
        <p:txBody>
          <a:bodyPr wrap="square" lIns="0" tIns="0" rIns="0" bIns="0" rtlCol="0" anchor="t"/>
          <a:lstStyle/>
          <a:p>
            <a:pPr algn="l" indent="0" marL="0">
              <a:buNone/>
            </a:pPr>
            <a:r>
              <a:rPr lang="en-US" sz="3000" dirty="0">
                <a:solidFill>
                  <a:schemeClr val="accent2"/>
                </a:solidFill>
              </a:rPr>
              <a:t>Questions?</a:t>
            </a:r>
            <a:endParaRPr lang="en-US" sz="3000" dirty="0"/>
          </a:p>
        </p:txBody>
      </p:sp>
      <p:sp>
        <p:nvSpPr>
          <p:cNvPr id="4" name="Closing pill 1"/>
          <p:cNvSpPr/>
          <p:nvPr/>
        </p:nvSpPr>
        <p:spPr>
          <a:xfrm>
            <a:off x="640080" y="4572000"/>
            <a:ext cx="2286000" cy="685800"/>
          </a:xfrm>
          <a:prstGeom prst="roundRect">
            <a:avLst>
              <a:gd name="adj" fmla="val 20000"/>
            </a:avLst>
          </a:prstGeom>
          <a:solidFill>
            <a:schemeClr val="accent1"/>
          </a:solidFill>
          <a:ln w="12700">
            <a:solidFill>
              <a:schemeClr val="accent1"/>
            </a:solidFill>
            <a:prstDash val="solid"/>
          </a:ln>
        </p:spPr>
      </p:sp>
      <p:sp>
        <p:nvSpPr>
          <p:cNvPr id="5" name="Closing pill text 1"/>
          <p:cNvSpPr txBox="1"/>
          <p:nvPr/>
        </p:nvSpPr>
        <p:spPr>
          <a:xfrm>
            <a:off x="640080" y="4572000"/>
            <a:ext cx="2286000" cy="685800"/>
          </a:xfrm>
          <a:prstGeom prst="rect">
            <a:avLst/>
          </a:prstGeom>
          <a:noFill/>
          <a:ln/>
        </p:spPr>
        <p:txBody>
          <a:bodyPr wrap="square" lIns="0" tIns="0" rIns="0" bIns="0" rtlCol="0" anchor="ctr"/>
          <a:lstStyle/>
          <a:p>
            <a:pPr algn="ctr" indent="0" marL="0">
              <a:buNone/>
            </a:pPr>
            <a:r>
              <a:rPr lang="en-US" sz="2000" b="1" dirty="0">
                <a:solidFill>
                  <a:schemeClr val="bg1"/>
                </a:solidFill>
              </a:rPr>
              <a:t>Transcript</a:t>
            </a:r>
            <a:endParaRPr lang="en-US" sz="2000" dirty="0"/>
          </a:p>
        </p:txBody>
      </p:sp>
      <p:sp>
        <p:nvSpPr>
          <p:cNvPr id="6" name="Closing arrow 1"/>
          <p:cNvSpPr/>
          <p:nvPr/>
        </p:nvSpPr>
        <p:spPr>
          <a:xfrm>
            <a:off x="2999232" y="4914900"/>
            <a:ext cx="402336" cy="0"/>
          </a:xfrm>
          <a:prstGeom prst="line">
            <a:avLst/>
          </a:prstGeom>
          <a:noFill/>
          <a:ln w="25400">
            <a:solidFill>
              <a:schemeClr val="bg2"/>
            </a:solidFill>
            <a:prstDash val="solid"/>
            <a:tailEnd type="triangle"/>
          </a:ln>
        </p:spPr>
      </p:sp>
      <p:sp>
        <p:nvSpPr>
          <p:cNvPr id="7" name="Closing pill 2"/>
          <p:cNvSpPr/>
          <p:nvPr/>
        </p:nvSpPr>
        <p:spPr>
          <a:xfrm>
            <a:off x="3474720" y="4572000"/>
            <a:ext cx="2286000" cy="685800"/>
          </a:xfrm>
          <a:prstGeom prst="roundRect">
            <a:avLst>
              <a:gd name="adj" fmla="val 20000"/>
            </a:avLst>
          </a:prstGeom>
          <a:solidFill>
            <a:schemeClr val="accent2"/>
          </a:solidFill>
          <a:ln w="12700">
            <a:solidFill>
              <a:schemeClr val="accent2"/>
            </a:solidFill>
            <a:prstDash val="solid"/>
          </a:ln>
        </p:spPr>
      </p:sp>
      <p:sp>
        <p:nvSpPr>
          <p:cNvPr id="8" name="Closing pill text 2"/>
          <p:cNvSpPr txBox="1"/>
          <p:nvPr/>
        </p:nvSpPr>
        <p:spPr>
          <a:xfrm>
            <a:off x="3474720" y="4572000"/>
            <a:ext cx="2286000" cy="685800"/>
          </a:xfrm>
          <a:prstGeom prst="rect">
            <a:avLst/>
          </a:prstGeom>
          <a:noFill/>
          <a:ln/>
        </p:spPr>
        <p:txBody>
          <a:bodyPr wrap="square" lIns="0" tIns="0" rIns="0" bIns="0" rtlCol="0" anchor="ctr"/>
          <a:lstStyle/>
          <a:p>
            <a:pPr algn="ctr" indent="0" marL="0">
              <a:buNone/>
            </a:pPr>
            <a:r>
              <a:rPr lang="en-US" sz="2000" b="1" dirty="0">
                <a:solidFill>
                  <a:schemeClr val="tx1"/>
                </a:solidFill>
              </a:rPr>
              <a:t>Review</a:t>
            </a:r>
            <a:endParaRPr lang="en-US" sz="2000" dirty="0"/>
          </a:p>
        </p:txBody>
      </p:sp>
      <p:sp>
        <p:nvSpPr>
          <p:cNvPr id="9" name="Closing arrow 2"/>
          <p:cNvSpPr/>
          <p:nvPr/>
        </p:nvSpPr>
        <p:spPr>
          <a:xfrm>
            <a:off x="5833872" y="4914900"/>
            <a:ext cx="402336" cy="0"/>
          </a:xfrm>
          <a:prstGeom prst="line">
            <a:avLst/>
          </a:prstGeom>
          <a:noFill/>
          <a:ln w="25400">
            <a:solidFill>
              <a:schemeClr val="bg2"/>
            </a:solidFill>
            <a:prstDash val="solid"/>
            <a:tailEnd type="triangle"/>
          </a:ln>
        </p:spPr>
      </p:sp>
      <p:sp>
        <p:nvSpPr>
          <p:cNvPr id="10" name="Closing pill 3"/>
          <p:cNvSpPr/>
          <p:nvPr/>
        </p:nvSpPr>
        <p:spPr>
          <a:xfrm>
            <a:off x="6309360" y="4572000"/>
            <a:ext cx="2286000" cy="685800"/>
          </a:xfrm>
          <a:prstGeom prst="roundRect">
            <a:avLst>
              <a:gd name="adj" fmla="val 20000"/>
            </a:avLst>
          </a:prstGeom>
          <a:solidFill>
            <a:schemeClr val="accent1"/>
          </a:solidFill>
          <a:ln w="12700">
            <a:solidFill>
              <a:schemeClr val="accent1"/>
            </a:solidFill>
            <a:prstDash val="solid"/>
          </a:ln>
        </p:spPr>
      </p:sp>
      <p:sp>
        <p:nvSpPr>
          <p:cNvPr id="11" name="Closing pill text 3"/>
          <p:cNvSpPr txBox="1"/>
          <p:nvPr/>
        </p:nvSpPr>
        <p:spPr>
          <a:xfrm>
            <a:off x="6309360" y="4572000"/>
            <a:ext cx="2286000" cy="685800"/>
          </a:xfrm>
          <a:prstGeom prst="rect">
            <a:avLst/>
          </a:prstGeom>
          <a:noFill/>
          <a:ln/>
        </p:spPr>
        <p:txBody>
          <a:bodyPr wrap="square" lIns="0" tIns="0" rIns="0" bIns="0" rtlCol="0" anchor="ctr"/>
          <a:lstStyle/>
          <a:p>
            <a:pPr algn="ctr" indent="0" marL="0">
              <a:buNone/>
            </a:pPr>
            <a:r>
              <a:rPr lang="en-US" sz="2000" b="1" dirty="0">
                <a:solidFill>
                  <a:schemeClr val="bg1"/>
                </a:solidFill>
              </a:rPr>
              <a:t>Tracked work</a:t>
            </a:r>
            <a:endParaRPr lang="en-US" sz="2000" dirty="0"/>
          </a:p>
        </p:txBody>
      </p:sp>
    </p:spTree>
  </p:cSld>
  <p:clrMapOvr>
    <a:masterClrMapping/>
  </p:clrMapOvr>
</p:sld>
</file>

<file path=ppt/theme/theme1.xml><?xml version="1.0" encoding="utf-8"?>
<a:theme xmlns:a="http://schemas.openxmlformats.org/drawingml/2006/main" name="Meeting Action Tracker">
  <a:themeElements>
    <a:clrScheme name="Meeting Action Tracker">
      <a:dk1>
        <a:srgbClr val="17202A"/>
      </a:dk1>
      <a:lt1>
        <a:srgbClr val="FFFFFF"/>
      </a:lt1>
      <a:dk2>
        <a:srgbClr val="4B5B66"/>
      </a:dk2>
      <a:lt2>
        <a:srgbClr val="EEF4F3"/>
      </a:lt2>
      <a:accent1>
        <a:srgbClr val="0F766E"/>
      </a:accent1>
      <a:accent2>
        <a:srgbClr val="F59E0B"/>
      </a:accent2>
      <a:accent3>
        <a:srgbClr val="4A86E8"/>
      </a:accent3>
      <a:accent4>
        <a:srgbClr val="8E6BD1"/>
      </a:accent4>
      <a:accent5>
        <a:srgbClr val="2E9B5A"/>
      </a:accent5>
      <a:accent6>
        <a:srgbClr val="D64045"/>
      </a:accent6>
      <a:hlink>
        <a:srgbClr val="0F766E"/>
      </a:hlink>
      <a:folHlink>
        <a:srgbClr val="8E6BD1"/>
      </a:folHlink>
    </a:clrScheme>
    <a:fontScheme name="Meeting Action Track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Meeting Summary &amp; Action Tracker</dc:title>
  <dc:subject>PptxGenJS Presentation</dc:subject>
  <dc:creator>Build-A-Thon team</dc:creator>
  <cp:lastModifiedBy>Build-A-Thon team</cp:lastModifiedBy>
  <cp:revision>1</cp:revision>
  <dcterms:created xsi:type="dcterms:W3CDTF">2026-10-24T06:45:01Z</dcterms:created>
  <dcterms:modified xsi:type="dcterms:W3CDTF">2026-10-24T06:45:01Z</dcterms:modified>
</cp:coreProperties>
</file>